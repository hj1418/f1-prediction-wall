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891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to THE GRDX presentation. This deck tells the complete story of the platform: the problem it solves, how it works, how it is built, how it protects data, where it is headed, and what it looks like in live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GRDX provides a motorsport-focused prediction and community experience. F1 fans often follow races through separate sources and discuss predictions informally. THE GRDX brings prediction participation, results, and competitive engagement into one dedicated experience.</a:t>
            </a:r>
          </a:p>
          <a:p>
            <a:endParaRPr/>
          </a:p>
          <a:p>
            <a:r>
              <a:t>Key message: Turn every Grand Prix weekend into an interactive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“The frontend is a static web application, while the backend runs in Apps Script. Google Sheets provides the main persistent data store, avoiding the need to operate a conventional application server and database server.”</a:t>
            </a:r>
          </a:p>
          <a:p>
            <a:endParaRPr/>
          </a:p>
          <a:p>
            <a:r>
              <a:t>Key message: A lightweight web platform connects the user experience to server-side business logic, structured application data, and external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Predictions are organized around race sessions rather than being isolated, free-form entries. Once a submission is accepted, the scoring process compares it with the official result and produces the points used in the leaderboard.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“The backend coordinates business rules, data persistence, and processing across the platform. The backend is organized around an action-dispatch pattern rather than separate microservices. Its services execute inside the same Apps Script project.”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“The scoring system turns individual race predictions into a measurable competitive experience. A prediction is tied to a specific session and round. Once a submission is accepted, the scoring process compares it with the official result and produces the points used in the leaderboard.”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“THE GRDX combines race information, prediction, competition, and engagement in one focused experience. Organizing capabilities into four clear groups helps users understand the full breadth of the product.”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“The platform uses familiar web technologies and managed Google services to keep infrastructure relatively lightweight. The backend runs specifically on Google Apps Script rather than conventional Node or container servers.”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“The goal is to make F1 prediction more structured, immersive, and community-oriented. We focus on session awareness, circuit identity, and community competition rather than generic odds or gambling.”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“Build a reliable prediction platform first, deepen user engagement next, and expand into a richer F1 community experience over time. Each roadmap item is realistically categorized as in-progress, planned, or proposed.”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“Security depends on backend enforcement and data-integrity controls, not just the authentication interface. We enforce token verification, role checks, and deadline enforcement on the server.”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“Actual production screenshots of the running desktop application: The left shows the main dashboard and session countdown; the top-right shows the Prediction Hub; the bottom-right shows the live community leaderboard.”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“Demonstrate how users can access the prediction experience and key platform features on smaller screens. Actual mobile screenshots show responsive touch-friendly navigation, quick ballot entry, and leaderboard rankings.”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5157822" cy="207749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E10600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PRODUCT OVERVIEW, TECHNICAL ARCHITECTURE &amp; STRATEGIC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140038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0F172A"/>
                </a:solidFill>
                <a:latin typeface="Segoe UI"/>
              </a:defRPr>
            </a:pPr>
            <a:r>
              <a:rPr sz="4200" b="1">
                <a:latin typeface="Arial" panose="020B0604020202020204" pitchFamily="34" charset="0"/>
              </a:rPr>
              <a:t>THE GRDX</a:t>
            </a:r>
          </a:p>
          <a:p>
            <a:pPr>
              <a:spcAft>
                <a:spcPts val="800"/>
              </a:spcAft>
              <a:defRPr sz="2200" b="1">
                <a:solidFill>
                  <a:srgbClr val="EB5722"/>
                </a:solidFill>
                <a:latin typeface="Segoe UI"/>
              </a:defRPr>
            </a:pPr>
            <a:r>
              <a:rPr sz="2200" b="1">
                <a:latin typeface="Arial" panose="020B0604020202020204" pitchFamily="34" charset="0"/>
              </a:rPr>
              <a:t>F1 Prediction &amp; Community Platform</a:t>
            </a:r>
          </a:p>
          <a:p>
            <a:pPr>
              <a:defRPr sz="1200" i="1">
                <a:solidFill>
                  <a:srgbClr val="475569"/>
                </a:solidFill>
                <a:latin typeface="Segoe UI"/>
              </a:defRPr>
            </a:pPr>
            <a:r>
              <a:rPr sz="1150">
                <a:latin typeface="Arial" panose="020B0604020202020204" pitchFamily="34" charset="0"/>
              </a:rPr>
              <a:t>The problem → The product → How it works → How it is built → How it protects data → Where it is going → What it looks like.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2450592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32688" y="3584448"/>
            <a:ext cx="2414016" cy="54864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3749040"/>
            <a:ext cx="2121408" cy="9671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THE PRODUCT</a:t>
            </a:r>
          </a:p>
          <a:p>
            <a:pPr>
              <a:spcAft>
                <a:spcPts val="5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sz="1150" b="1">
                <a:latin typeface="Arial" panose="020B0604020202020204" pitchFamily="34" charset="0"/>
              </a:rPr>
              <a:t>Motorsport Engagement</a:t>
            </a:r>
          </a:p>
          <a:p>
            <a:pPr>
              <a:lnSpc>
                <a:spcPct val="115000"/>
              </a:lnSpc>
              <a:defRPr sz="900">
                <a:solidFill>
                  <a:srgbClr val="334155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Turn every Grand Prix weekend into an interactive fan experience with session-aware predictions.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3566160"/>
            <a:ext cx="2450592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66160" y="3584448"/>
            <a:ext cx="2414016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12464" y="3749040"/>
            <a:ext cx="2121408" cy="9671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ARCHITECTURE</a:t>
            </a:r>
          </a:p>
          <a:p>
            <a:pPr>
              <a:spcAft>
                <a:spcPts val="5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sz="1150" b="1">
                <a:latin typeface="Arial" panose="020B0604020202020204" pitchFamily="34" charset="0"/>
              </a:rPr>
              <a:t>Lightweight &amp; Serverless</a:t>
            </a:r>
          </a:p>
          <a:p>
            <a:pPr>
              <a:lnSpc>
                <a:spcPct val="115000"/>
              </a:lnSpc>
              <a:defRPr sz="900">
                <a:solidFill>
                  <a:srgbClr val="334155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React 19 + TypeScript SPA on GitHub Pages Edge CDN backed by Google Apps Script V8.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566160"/>
            <a:ext cx="2450592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3584448"/>
            <a:ext cx="2414016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3749040"/>
            <a:ext cx="2121408" cy="9671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16A34A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DATA INTEGRITY</a:t>
            </a:r>
          </a:p>
          <a:p>
            <a:pPr>
              <a:spcAft>
                <a:spcPts val="5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sz="1150" b="1">
                <a:latin typeface="Arial" panose="020B0604020202020204" pitchFamily="34" charset="0"/>
              </a:rPr>
              <a:t>Structured Cloud Records</a:t>
            </a:r>
          </a:p>
          <a:p>
            <a:pPr>
              <a:lnSpc>
                <a:spcPct val="115000"/>
              </a:lnSpc>
              <a:defRPr sz="900">
                <a:solidFill>
                  <a:srgbClr val="334155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15 relational worksheets on Google Sheets with LockService mutex &amp; CacheService RAM caching.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14816" y="3566160"/>
            <a:ext cx="2450592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33104" y="3584448"/>
            <a:ext cx="2414016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79408" y="3749040"/>
            <a:ext cx="2121408" cy="9671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9333EA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PRODUCT VISION</a:t>
            </a:r>
          </a:p>
          <a:p>
            <a:pPr>
              <a:spcAft>
                <a:spcPts val="5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sz="1150" b="1">
                <a:latin typeface="Arial" panose="020B0604020202020204" pitchFamily="34" charset="0"/>
              </a:rPr>
              <a:t>Community &amp; Future Scale</a:t>
            </a:r>
          </a:p>
          <a:p>
            <a:pPr>
              <a:lnSpc>
                <a:spcPct val="115000"/>
              </a:lnSpc>
              <a:defRPr sz="900">
                <a:solidFill>
                  <a:srgbClr val="334155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Three-phase expansion from core prediction reliability to rich analytics and social leagues.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035040"/>
            <a:ext cx="5978560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THE GRDX PRESENTATION  |  12 COMPREHENSIVE SLIDES  |  LIGHT PROFESSIONAL EXECUTIVE THEME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710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 b="1">
                <a:latin typeface="Arial" panose="020B0604020202020204" pitchFamily="34" charset="0"/>
              </a:rPr>
              <a:t>PRODUCT INTRODUCTION &amp; OVERVIEW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rPr sz="2200" b="1">
                <a:latin typeface="Arial" panose="020B0604020202020204" pitchFamily="34" charset="0"/>
              </a:rPr>
              <a:t>Slide 1 — Introduction: What Is THE GRDX?</a:t>
            </a:r>
          </a:p>
          <a:p>
            <a:pPr>
              <a:lnSpc>
                <a:spcPct val="105000"/>
              </a:lnSpc>
              <a:defRPr sz="1000">
                <a:solidFill>
                  <a:srgbClr val="475569"/>
                </a:solidFill>
                <a:latin typeface="Segoe UI"/>
              </a:defRPr>
            </a:pPr>
            <a:r>
              <a:rPr sz="1050">
                <a:latin typeface="Arial" panose="020B0604020202020204" pitchFamily="34" charset="0"/>
              </a:rPr>
              <a:t>A motorsport-focused platform where Formula 1 fans make race predictions, follow race weekends, and compete with the community.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6739" y="6510528"/>
            <a:ext cx="67326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Slide 1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488289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THE PROBLEM IT SOLVES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45920"/>
            <a:ext cx="4846320" cy="104067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F1 fans often follow races through disparate, fragmented sources and share predictions informally across group chats or social media threads.</a:t>
            </a:r>
            <a:br>
              <a:rPr sz="950">
                <a:latin typeface="Arial" panose="020B0604020202020204" pitchFamily="34" charset="0"/>
              </a:rPr>
            </a:br>
            <a:br>
              <a:rPr sz="950">
                <a:latin typeface="Arial" panose="020B0604020202020204" pitchFamily="34" charset="0"/>
              </a:rPr>
            </a:br>
            <a:r>
              <a:rPr sz="950">
                <a:latin typeface="Arial" panose="020B0604020202020204" pitchFamily="34" charset="0"/>
              </a:rPr>
              <a:t>There is no dedicated, focused digital home that combines structured session-by-session predictions, live schedule countdowns, verified official results, and competitive community leaderboards in one cohesive experience.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94760"/>
            <a:ext cx="521208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3904488"/>
            <a:ext cx="488289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WHAT THE GRDX IS &amp; TARGET 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4846320" cy="156927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Motorsport Prediction Platform: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Structured prediction rounds for Practice, Qualifying, Sprint, and Grand Prix.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Target Audience: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Formula 1 fans, race-weekend prediction enthusiasts, and motorsport communities.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Core Aim: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Make following F1 interactive by giving fans a measurable way to predict outcomes and track accuracy.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Vision: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Build a focused digital home for F1 prediction, learning, and competitive community engagement.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5242255" cy="3566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389888"/>
            <a:ext cx="4913071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LIVE PLATFORM PREVIEW</a:t>
            </a:r>
          </a:p>
        </p:txBody>
      </p:sp>
      <p:pic>
        <p:nvPicPr>
          <p:cNvPr id="17" name="Picture 16" descr="desktop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1645920"/>
            <a:ext cx="4901184" cy="306324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17920" y="4983480"/>
            <a:ext cx="5242255" cy="12344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4224" y="5093208"/>
            <a:ext cx="4949647" cy="8224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78350F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💡  KEY PRODUCT MESSAGE</a:t>
            </a:r>
          </a:p>
          <a:p>
            <a:pPr>
              <a:lnSpc>
                <a:spcPct val="115000"/>
              </a:lnSpc>
              <a:defRPr sz="850">
                <a:solidFill>
                  <a:srgbClr val="78350F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“Turn every Grand Prix weekend into an interactive experience.”</a:t>
            </a:r>
            <a:br>
              <a:rPr sz="950">
                <a:latin typeface="Arial" panose="020B0604020202020204" pitchFamily="34" charset="0"/>
              </a:rPr>
            </a:br>
            <a:br>
              <a:rPr sz="950">
                <a:latin typeface="Arial" panose="020B0604020202020204" pitchFamily="34" charset="0"/>
              </a:rPr>
            </a:br>
            <a:r>
              <a:rPr sz="950">
                <a:latin typeface="Arial" panose="020B0604020202020204" pitchFamily="34" charset="0"/>
              </a:rPr>
              <a:t>Note: Present the problem and vision as the platform's intended purpose, rather than claiming market-wide results or user impact that hasn't been measured.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710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 b="1">
                <a:latin typeface="Arial" panose="020B0604020202020204" pitchFamily="34" charset="0"/>
              </a:rPr>
              <a:t>SYSTEM ARCHITECTURE  |  C4 CONTAINER TOPOLOGY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rPr sz="2200" b="1">
                <a:latin typeface="Arial" panose="020B0604020202020204" pitchFamily="34" charset="0"/>
              </a:rPr>
              <a:t>Slide 2 — System Architecture at a Glance</a:t>
            </a:r>
          </a:p>
          <a:p>
            <a:pPr>
              <a:lnSpc>
                <a:spcPct val="105000"/>
              </a:lnSpc>
              <a:defRPr sz="1000">
                <a:solidFill>
                  <a:srgbClr val="475569"/>
                </a:solidFill>
                <a:latin typeface="Segoe UI"/>
              </a:defRPr>
            </a:pPr>
            <a:r>
              <a:rPr sz="1050">
                <a:latin typeface="Arial" panose="020B0604020202020204" pitchFamily="34" charset="0"/>
              </a:rPr>
              <a:t>A lightweight web platform connects the user experience to server-side business logic, structured application data, and external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6739" y="6510528"/>
            <a:ext cx="67326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Slide 2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497433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C4 CONTAINER DIAGRAM: CORE ARCHITECTURE</a:t>
            </a:r>
          </a:p>
        </p:txBody>
      </p:sp>
      <p:pic>
        <p:nvPicPr>
          <p:cNvPr id="11" name="Picture 10" descr="slide_2_container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53009"/>
            <a:ext cx="5029200" cy="346638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1280160"/>
            <a:ext cx="5242255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389888"/>
            <a:ext cx="4913071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ARCHITECTURAL TIERS &amp; DATA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45920"/>
            <a:ext cx="4967935" cy="22417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User Experience Layer (Frontend):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React 19 + TypeScript Single Page App (SPA) hosted on GitHub Pages Edge CDN. Provides instant client-side navigation via React Router 7 and persistent local caching.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Application Logic Engine (Backend):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Google Apps Script running on Google Cloud Platform's V8 serverless runtime. Processes incoming HTTPS GET/POST JSON requests via doGet(e) and doPost(e) gateways.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Persistent Cloud Database (Data Tier):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Google Sheets relational cloud database comprising 15 structured worksheets, providing automated version history, zero hosting cost, and direct data inspectability.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External Services &amp; Integrations: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Google Identity Services for cryptographic OAuth 2.0 user verification, Jolpica F1 API for motorsport telemetry, and Google MailApp for async transactional emails.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074920"/>
            <a:ext cx="5242255" cy="1143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64224" y="5184648"/>
            <a:ext cx="4949647" cy="6542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78350F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💡  CORE ARCHITECTURAL PRINCIPLE</a:t>
            </a:r>
          </a:p>
          <a:p>
            <a:pPr>
              <a:lnSpc>
                <a:spcPct val="115000"/>
              </a:lnSpc>
              <a:defRPr sz="850">
                <a:solidFill>
                  <a:srgbClr val="78350F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A lightweight web platform connects the user experience to server-side business logic, structured application data, and external services without needing expensive traditional database or application servers.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710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 b="1">
                <a:latin typeface="Arial" panose="020B0604020202020204" pitchFamily="34" charset="0"/>
              </a:rPr>
              <a:t>USER JOURNEY &amp; CORE WORKFLOW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rPr sz="2200" b="1">
                <a:latin typeface="Arial" panose="020B0604020202020204" pitchFamily="34" charset="0"/>
              </a:rPr>
              <a:t>Slide 3 — Core Workflow: Race Weekend and Predictions</a:t>
            </a:r>
          </a:p>
          <a:p>
            <a:pPr>
              <a:lnSpc>
                <a:spcPct val="105000"/>
              </a:lnSpc>
              <a:defRPr sz="1000">
                <a:solidFill>
                  <a:srgbClr val="475569"/>
                </a:solidFill>
                <a:latin typeface="Segoe UI"/>
              </a:defRPr>
            </a:pPr>
            <a:r>
              <a:rPr sz="1050">
                <a:latin typeface="Arial" panose="020B0604020202020204" pitchFamily="34" charset="0"/>
              </a:rPr>
              <a:t>Predictions are organized around real race sessions rather than being isolated, free-form entries.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6739" y="6510528"/>
            <a:ext cx="67326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Slide 3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4114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378561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PREDICTION LIFECYCLE WORKFLOW</a:t>
            </a:r>
          </a:p>
        </p:txBody>
      </p:sp>
      <p:pic>
        <p:nvPicPr>
          <p:cNvPr id="11" name="Picture 10" descr="slide_6_prediction_lif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183" y="1691640"/>
            <a:ext cx="1651472" cy="43891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0" y="1280160"/>
            <a:ext cx="6430975" cy="37490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93792" y="1389888"/>
            <a:ext cx="6101791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STEP-BY-STEP PREDICTION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645920"/>
            <a:ext cx="6065215" cy="22546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1. Race Calendar &amp; Session Discovery: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Users browse official Grand Prix schedules with local timezone-adjusted countdowns for Practice, Qualifying, Sprint, and Race sessions.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2. Prediction Round Activation: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Session-specific prediction rounds open for submissions with dedicated deadlines and custom track metadata.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3. Ballot Entry &amp; Selection: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Users enter predicted podium finishers (P1, P2, P3), Fastest Lap, Driver of the Day, and session wildcard challenges.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4. Server-Side Validation: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Backend enforces strict validation: driver combination validity, input sanitization, and atomic deadline checks (5 min before session start).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5. Atomic Persistence: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Verified submissions are locked and written to Google Sheets via LockService mutex to prevent race conditions.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6. Official Result Scoring: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Official FIA session results are ingested; automated scoring engine calculates points and refreshes community leaderboards.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5166360"/>
            <a:ext cx="6430975" cy="10515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75504" y="5276088"/>
            <a:ext cx="6138367" cy="486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78350F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💡  KEY WORKFLOW INSIGHT</a:t>
            </a:r>
          </a:p>
          <a:p>
            <a:pPr>
              <a:lnSpc>
                <a:spcPct val="115000"/>
              </a:lnSpc>
              <a:defRPr sz="850">
                <a:solidFill>
                  <a:srgbClr val="78350F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Predictions are organized around real motorsport sessions rather than being isolated entries. Strict server-side deadlines ensure competitive integrity across global timezones.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710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 b="1">
                <a:latin typeface="Arial" panose="020B0604020202020204" pitchFamily="34" charset="0"/>
              </a:rPr>
              <a:t>BACKEND &amp; CLOUD PERSISTENCE  |  GOOGLE APPS SCRIPT &amp; SHEETS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rPr sz="2200" b="1">
                <a:latin typeface="Arial" panose="020B0604020202020204" pitchFamily="34" charset="0"/>
              </a:rPr>
              <a:t>Slide 4 — Backend and Data Architecture</a:t>
            </a:r>
          </a:p>
          <a:p>
            <a:pPr>
              <a:lnSpc>
                <a:spcPct val="105000"/>
              </a:lnSpc>
              <a:defRPr sz="1000">
                <a:solidFill>
                  <a:srgbClr val="475569"/>
                </a:solidFill>
                <a:latin typeface="Segoe UI"/>
              </a:defRPr>
            </a:pPr>
            <a:r>
              <a:rPr sz="1050">
                <a:latin typeface="Arial" panose="020B0604020202020204" pitchFamily="34" charset="0"/>
              </a:rPr>
              <a:t>The backend coordinates business rules, data persistence, and processing across the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6739" y="6510528"/>
            <a:ext cx="67326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Slide 4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10399471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BACKEND REQUEST ROUTING &amp; APPLICATION SERVICES TOPOLOGY</a:t>
            </a:r>
          </a:p>
        </p:txBody>
      </p:sp>
      <p:pic>
        <p:nvPicPr>
          <p:cNvPr id="11" name="Picture 10" descr="slide_4_backend_compon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994" y="1645920"/>
            <a:ext cx="7949705" cy="2194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4178808"/>
            <a:ext cx="488289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SERVERLESS REQUEST GATEWAY &amp; DOMAIN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4846320" cy="116891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Unified Request Dispatcher: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doGet(e) processes high-speed read queries; doPost(e) routes JSON mutations to domain action handlers.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Specialized Domain Services: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Dedicated modules for Identity, Prediction Validation, Scoring Engine, Calendar Sync, and Quiz Management.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LockService Mutex Protection: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Distributed script lock (10s timeout) prevents write collisions during high-traffic cutoff windows.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69080"/>
            <a:ext cx="5242255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4178808"/>
            <a:ext cx="4913071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15-WORKSHEET RELATIONAL DATA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4876495" cy="116891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Relational Entity Hierarchy: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Users connect to Predictions, Scores, Achievements, QuizAttempts, and NotificationQueue.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Race &amp; Prediction Entities: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RaceWeekends and Sessions schedule PredictionRounds; rounds record Predictions, official Results, and Scores.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Integrity Enforcement: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Google Sheets acts as persistent storage; foreign-key constraints and unique lookups are strictly maintained in application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710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 b="1">
                <a:latin typeface="Arial" panose="020B0604020202020204" pitchFamily="34" charset="0"/>
              </a:rPr>
              <a:t>COMPETITIVE SCORING MODEL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rPr sz="2200" b="1">
                <a:latin typeface="Arial" panose="020B0604020202020204" pitchFamily="34" charset="0"/>
              </a:rPr>
              <a:t>Slide 5 — Scoring and Competitive Workflow</a:t>
            </a:r>
          </a:p>
          <a:p>
            <a:pPr>
              <a:lnSpc>
                <a:spcPct val="105000"/>
              </a:lnSpc>
              <a:defRPr sz="1000">
                <a:solidFill>
                  <a:srgbClr val="475569"/>
                </a:solidFill>
                <a:latin typeface="Segoe UI"/>
              </a:defRPr>
            </a:pPr>
            <a:r>
              <a:rPr sz="1050">
                <a:latin typeface="Arial" panose="020B0604020202020204" pitchFamily="34" charset="0"/>
              </a:rPr>
              <a:t>How predictions become points: rewarding pinpoint accuracy, podium coverage, and session bonuses.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6739" y="6510528"/>
            <a:ext cx="67326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Slide 5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60350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570585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OFFICIAL DOCUMENTED SCORING MODEL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951400"/>
              </p:ext>
            </p:extLst>
          </p:nvPr>
        </p:nvGraphicFramePr>
        <p:xfrm>
          <a:off x="914400" y="1645920"/>
          <a:ext cx="56692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950" b="1">
                          <a:latin typeface="Arial" panose="020B0604020202020204" pitchFamily="34" charset="0"/>
                        </a:rPr>
                        <a:t>Prediction Outcome</a:t>
                      </a:r>
                    </a:p>
                  </a:txBody>
                  <a:tcPr marL="50800" marR="50800" marT="31750" marB="317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950" b="1">
                          <a:latin typeface="Arial" panose="020B0604020202020204" pitchFamily="34" charset="0"/>
                        </a:rPr>
                        <a:t>Points</a:t>
                      </a:r>
                    </a:p>
                  </a:txBody>
                  <a:tcPr marL="50800" marR="50800" marT="31750" marB="317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950" b="1">
                          <a:latin typeface="Arial" panose="020B0604020202020204" pitchFamily="34" charset="0"/>
                        </a:rPr>
                        <a:t>Evaluation Criteria</a:t>
                      </a:r>
                    </a:p>
                  </a:txBody>
                  <a:tcPr marL="50800" marR="50800" marT="31750" marB="31750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1">
                          <a:latin typeface="Arial" panose="020B0604020202020204" pitchFamily="34" charset="0"/>
                        </a:rPr>
                        <a:t>Exact P1 Winner</a:t>
                      </a:r>
                    </a:p>
                  </a:txBody>
                  <a:tcPr marL="50800" marR="508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E10600"/>
                          </a:solidFill>
                          <a:latin typeface="Segoe UI"/>
                        </a:defRPr>
                      </a:pPr>
                      <a:r>
                        <a:rPr sz="950" b="1">
                          <a:latin typeface="Arial" panose="020B0604020202020204" pitchFamily="34" charset="0"/>
                        </a:rPr>
                        <a:t>15 pts</a:t>
                      </a:r>
                    </a:p>
                  </a:txBody>
                  <a:tcPr marL="50800" marR="508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Selected driver finishes in 1st position</a:t>
                      </a:r>
                    </a:p>
                  </a:txBody>
                  <a:tcPr marL="50800" marR="50800" marT="31750" marB="317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1">
                          <a:latin typeface="Arial" panose="020B0604020202020204" pitchFamily="34" charset="0"/>
                        </a:rPr>
                        <a:t>Exact P2 Runner-Up</a:t>
                      </a:r>
                    </a:p>
                  </a:txBody>
                  <a:tcPr marL="50800" marR="50800" marT="31750" marB="317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E10600"/>
                          </a:solidFill>
                          <a:latin typeface="Segoe UI"/>
                        </a:defRPr>
                      </a:pPr>
                      <a:r>
                        <a:rPr sz="950" b="1">
                          <a:latin typeface="Arial" panose="020B0604020202020204" pitchFamily="34" charset="0"/>
                        </a:rPr>
                        <a:t>10 pts</a:t>
                      </a:r>
                    </a:p>
                  </a:txBody>
                  <a:tcPr marL="50800" marR="50800" marT="31750" marB="317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Selected driver finishes in 2nd position</a:t>
                      </a:r>
                    </a:p>
                  </a:txBody>
                  <a:tcPr marL="50800" marR="50800" marT="31750" marB="3175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1">
                          <a:latin typeface="Arial" panose="020B0604020202020204" pitchFamily="34" charset="0"/>
                        </a:rPr>
                        <a:t>Exact P3 Third Place</a:t>
                      </a:r>
                    </a:p>
                  </a:txBody>
                  <a:tcPr marL="50800" marR="508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E10600"/>
                          </a:solidFill>
                          <a:latin typeface="Segoe UI"/>
                        </a:defRPr>
                      </a:pPr>
                      <a:r>
                        <a:rPr sz="950" b="1">
                          <a:latin typeface="Arial" panose="020B0604020202020204" pitchFamily="34" charset="0"/>
                        </a:rPr>
                        <a:t>10 pts</a:t>
                      </a:r>
                    </a:p>
                  </a:txBody>
                  <a:tcPr marL="50800" marR="508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Selected driver finishes in 3rd position</a:t>
                      </a:r>
                    </a:p>
                  </a:txBody>
                  <a:tcPr marL="50800" marR="50800" marT="31750" marB="317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1">
                          <a:latin typeface="Arial" panose="020B0604020202020204" pitchFamily="34" charset="0"/>
                        </a:rPr>
                        <a:t>Podium Driver (Wrong Position)</a:t>
                      </a:r>
                    </a:p>
                  </a:txBody>
                  <a:tcPr marL="50800" marR="50800" marT="31750" marB="317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E10600"/>
                          </a:solidFill>
                          <a:latin typeface="Segoe UI"/>
                        </a:defRPr>
                      </a:pPr>
                      <a:r>
                        <a:rPr sz="950" b="1">
                          <a:latin typeface="Arial" panose="020B0604020202020204" pitchFamily="34" charset="0"/>
                        </a:rPr>
                        <a:t>5 pts</a:t>
                      </a:r>
                    </a:p>
                  </a:txBody>
                  <a:tcPr marL="50800" marR="50800" marT="31750" marB="317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Driver finishes on podium but different spot</a:t>
                      </a:r>
                    </a:p>
                  </a:txBody>
                  <a:tcPr marL="50800" marR="50800" marT="31750" marB="3175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1">
                          <a:latin typeface="Arial" panose="020B0604020202020204" pitchFamily="34" charset="0"/>
                        </a:rPr>
                        <a:t>Perfect 1–2–3 Podium Bonus</a:t>
                      </a:r>
                    </a:p>
                  </a:txBody>
                  <a:tcPr marL="50800" marR="508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E10600"/>
                          </a:solidFill>
                          <a:latin typeface="Segoe UI"/>
                        </a:defRPr>
                      </a:pPr>
                      <a:r>
                        <a:rPr sz="950" b="1">
                          <a:latin typeface="Arial" panose="020B0604020202020204" pitchFamily="34" charset="0"/>
                        </a:rPr>
                        <a:t>+10 pts</a:t>
                      </a:r>
                    </a:p>
                  </a:txBody>
                  <a:tcPr marL="50800" marR="508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Exact P1, P2, and P3 predicted simultaneously</a:t>
                      </a:r>
                    </a:p>
                  </a:txBody>
                  <a:tcPr marL="50800" marR="50800" marT="31750" marB="317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1">
                          <a:latin typeface="Arial" panose="020B0604020202020204" pitchFamily="34" charset="0"/>
                        </a:rPr>
                        <a:t>Fastest Lap (FL)</a:t>
                      </a:r>
                    </a:p>
                  </a:txBody>
                  <a:tcPr marL="50800" marR="50800" marT="31750" marB="317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E10600"/>
                          </a:solidFill>
                          <a:latin typeface="Segoe UI"/>
                        </a:defRPr>
                      </a:pPr>
                      <a:r>
                        <a:rPr sz="950" b="1">
                          <a:latin typeface="Arial" panose="020B0604020202020204" pitchFamily="34" charset="0"/>
                        </a:rPr>
                        <a:t>10 pts</a:t>
                      </a:r>
                    </a:p>
                  </a:txBody>
                  <a:tcPr marL="50800" marR="50800" marT="31750" marB="317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Selected driver records official race fastest lap</a:t>
                      </a:r>
                    </a:p>
                  </a:txBody>
                  <a:tcPr marL="50800" marR="50800" marT="31750" marB="3175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1">
                          <a:latin typeface="Arial" panose="020B0604020202020204" pitchFamily="34" charset="0"/>
                        </a:rPr>
                        <a:t>Driver of the Day (DOTD)</a:t>
                      </a:r>
                    </a:p>
                  </a:txBody>
                  <a:tcPr marL="50800" marR="508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E10600"/>
                          </a:solidFill>
                          <a:latin typeface="Segoe UI"/>
                        </a:defRPr>
                      </a:pPr>
                      <a:r>
                        <a:rPr sz="950" b="1">
                          <a:latin typeface="Arial" panose="020B0604020202020204" pitchFamily="34" charset="0"/>
                        </a:rPr>
                        <a:t>10 pts</a:t>
                      </a:r>
                    </a:p>
                  </a:txBody>
                  <a:tcPr marL="50800" marR="50800" marT="31750" marB="317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Selected driver wins official broadcast fan vote</a:t>
                      </a:r>
                    </a:p>
                  </a:txBody>
                  <a:tcPr marL="50800" marR="50800" marT="31750" marB="317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1">
                          <a:latin typeface="Arial" panose="020B0604020202020204" pitchFamily="34" charset="0"/>
                        </a:rPr>
                        <a:t>Wildcard Session Challenge</a:t>
                      </a:r>
                    </a:p>
                  </a:txBody>
                  <a:tcPr marL="50800" marR="50800" marT="31750" marB="317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E10600"/>
                          </a:solidFill>
                          <a:latin typeface="Segoe UI"/>
                        </a:defRPr>
                      </a:pPr>
                      <a:r>
                        <a:rPr sz="950" b="1">
                          <a:latin typeface="Arial" panose="020B0604020202020204" pitchFamily="34" charset="0"/>
                        </a:rPr>
                        <a:t>15 pts</a:t>
                      </a:r>
                    </a:p>
                  </a:txBody>
                  <a:tcPr marL="50800" marR="50800" marT="31750" marB="317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Correct prediction on session-specific wildcard</a:t>
                      </a:r>
                    </a:p>
                  </a:txBody>
                  <a:tcPr marL="50800" marR="50800" marT="31750" marB="3175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040880" y="1280160"/>
            <a:ext cx="4419295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05472" y="1389888"/>
            <a:ext cx="4090111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COMPETITIVE PROGRESSION &amp; ENGINE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645920"/>
            <a:ext cx="4053535" cy="156927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Measurable Competition: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Turns individual Grand Prix predictions into a competitive community leaderboard updated after every session.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Tiered Bonus System: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Balanced weighting rewards exact position insight while giving partial credit for podium presence and race-day feats.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Automated Ingestion: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Official results feed the scoring process automatically; scores aggregate into seasonal championship totals.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Achievement Milestones: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Special achievements and badges unlocked based on prediction streaks, perfect podiums, and trivia accuracy.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4709160"/>
            <a:ext cx="4419295" cy="15087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87184" y="4818888"/>
            <a:ext cx="4126687" cy="6542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78350F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💡  SCORING INTEGRITY CHECKPOINT</a:t>
            </a:r>
          </a:p>
          <a:p>
            <a:pPr>
              <a:lnSpc>
                <a:spcPct val="115000"/>
              </a:lnSpc>
              <a:defRPr sz="850">
                <a:solidFill>
                  <a:srgbClr val="78350F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Treat these as documented scoring values subject to backend/Code.gs verification. Server-side idempotency keys prevent duplicate scoring calculation rows upon multiple result sync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710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 b="1">
                <a:latin typeface="Arial" panose="020B0604020202020204" pitchFamily="34" charset="0"/>
              </a:rPr>
              <a:t>PRODUCT CAPABILITIES &amp; FEATURE MAP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rPr sz="2200" b="1">
                <a:latin typeface="Arial" panose="020B0604020202020204" pitchFamily="34" charset="0"/>
              </a:rPr>
              <a:t>Slide 6 — Features and Platform Capabilities</a:t>
            </a:r>
          </a:p>
          <a:p>
            <a:pPr>
              <a:lnSpc>
                <a:spcPct val="105000"/>
              </a:lnSpc>
              <a:defRPr sz="1000">
                <a:solidFill>
                  <a:srgbClr val="475569"/>
                </a:solidFill>
                <a:latin typeface="Segoe UI"/>
              </a:defRPr>
            </a:pPr>
            <a:r>
              <a:rPr sz="1050">
                <a:latin typeface="Arial" panose="020B0604020202020204" pitchFamily="34" charset="0"/>
              </a:rPr>
              <a:t>THE GRDX combines race information, prediction, competition, and engagement in one focused experience.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6739" y="6510528"/>
            <a:ext cx="67326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Slide 6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4688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298448"/>
            <a:ext cx="2432304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463040"/>
            <a:ext cx="2139696" cy="228735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10600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RACE WEEKEND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• Session Schedules &amp; Clocks: </a:t>
            </a:r>
            <a:r>
              <a:rPr sz="900" b="0">
                <a:solidFill>
                  <a:srgbClr val="334155"/>
                </a:solidFill>
                <a:latin typeface="Arial" panose="020B0604020202020204" pitchFamily="34" charset="0"/>
              </a:rPr>
              <a:t>Practice, Qualifying, Sprint, and Grand Prix local time countdowns.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• Dynamic Circuit Visuals: </a:t>
            </a:r>
            <a:r>
              <a:rPr sz="900" b="0">
                <a:solidFill>
                  <a:srgbClr val="334155"/>
                </a:solidFill>
                <a:latin typeface="Arial" panose="020B0604020202020204" pitchFamily="34" charset="0"/>
              </a:rPr>
              <a:t>Authentic SVG track layouts with sector and DRS zone info.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• Session Round Activation: </a:t>
            </a:r>
            <a:r>
              <a:rPr sz="900" b="0">
                <a:solidFill>
                  <a:srgbClr val="334155"/>
                </a:solidFill>
                <a:latin typeface="Arial" panose="020B0604020202020204" pitchFamily="34" charset="0"/>
              </a:rPr>
              <a:t>Prediction rounds tied to specific weekend sessions.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• Telemetry &amp; Context: </a:t>
            </a:r>
            <a:r>
              <a:rPr sz="900" b="0">
                <a:solidFill>
                  <a:srgbClr val="334155"/>
                </a:solidFill>
                <a:latin typeface="Arial" panose="020B0604020202020204" pitchFamily="34" charset="0"/>
              </a:rPr>
              <a:t>Weather forecasts, historical circuit winners, and track length.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1280160"/>
            <a:ext cx="24688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38144" y="1298448"/>
            <a:ext cx="2432304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84448" y="1463040"/>
            <a:ext cx="2139696" cy="228735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COMPETITION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• Prediction Form Engine: </a:t>
            </a:r>
            <a:r>
              <a:rPr sz="900" b="0">
                <a:solidFill>
                  <a:srgbClr val="334155"/>
                </a:solidFill>
                <a:latin typeface="Arial" panose="020B0604020202020204" pitchFamily="34" charset="0"/>
              </a:rPr>
              <a:t>Intuitive ballot for podium picks, fastest lap, and DOTD.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• Automated Point Tallies: </a:t>
            </a:r>
            <a:r>
              <a:rPr sz="900" b="0">
                <a:solidFill>
                  <a:srgbClr val="334155"/>
                </a:solidFill>
                <a:latin typeface="Arial" panose="020B0604020202020204" pitchFamily="34" charset="0"/>
              </a:rPr>
              <a:t>Transparent rule-based scoring calculated instantly.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• Live Community Leaderboards: </a:t>
            </a:r>
            <a:r>
              <a:rPr sz="900" b="0">
                <a:solidFill>
                  <a:srgbClr val="334155"/>
                </a:solidFill>
                <a:latin typeface="Arial" panose="020B0604020202020204" pitchFamily="34" charset="0"/>
              </a:rPr>
              <a:t>Global rankings, seasonal ladders, and event standings.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• Achievement Badges: </a:t>
            </a:r>
            <a:r>
              <a:rPr sz="900" b="0">
                <a:solidFill>
                  <a:srgbClr val="334155"/>
                </a:solidFill>
                <a:latin typeface="Arial" panose="020B0604020202020204" pitchFamily="34" charset="0"/>
              </a:rPr>
              <a:t>Unlockable trophies celebrating milestones and streaks.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1280160"/>
            <a:ext cx="24688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1298448"/>
            <a:ext cx="2432304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72784" y="1463040"/>
            <a:ext cx="2139696" cy="21322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6A34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LEARNING &amp; ENGAGEMENT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• Motorsport Trivia Engine: </a:t>
            </a:r>
            <a:r>
              <a:rPr sz="900" b="0">
                <a:solidFill>
                  <a:srgbClr val="334155"/>
                </a:solidFill>
                <a:latin typeface="Arial" panose="020B0604020202020204" pitchFamily="34" charset="0"/>
              </a:rPr>
              <a:t>Categorized F1 quizzes testing technical and historical trivia.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• Difficulty Tiers: </a:t>
            </a:r>
            <a:r>
              <a:rPr sz="900" b="0">
                <a:solidFill>
                  <a:srgbClr val="334155"/>
                </a:solidFill>
                <a:latin typeface="Arial" panose="020B0604020202020204" pitchFamily="34" charset="0"/>
              </a:rPr>
              <a:t>Rookie, Enthusiast, and Strategist difficulty levels.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• Championship Exploration: </a:t>
            </a:r>
            <a:r>
              <a:rPr sz="900" b="0">
                <a:solidFill>
                  <a:srgbClr val="334155"/>
                </a:solidFill>
                <a:latin typeface="Arial" panose="020B0604020202020204" pitchFamily="34" charset="0"/>
              </a:rPr>
              <a:t>Circuit guides and junior feeder championship overviews.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• Universal Search (Ctrl+K): </a:t>
            </a:r>
            <a:r>
              <a:rPr sz="900" b="0">
                <a:solidFill>
                  <a:srgbClr val="334155"/>
                </a:solidFill>
                <a:latin typeface="Arial" panose="020B0604020202020204" pitchFamily="34" charset="0"/>
              </a:rPr>
              <a:t>Quick search modal across circuits, drivers, and rounds.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96528" y="1280160"/>
            <a:ext cx="24688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14816" y="1298448"/>
            <a:ext cx="2432304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0" y="1463040"/>
            <a:ext cx="2139696" cy="21322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9333E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PERSONAL EXPERIENCE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• User Profiles &amp; Avatars: </a:t>
            </a:r>
            <a:r>
              <a:rPr sz="900" b="0">
                <a:solidFill>
                  <a:srgbClr val="334155"/>
                </a:solidFill>
                <a:latin typeface="Arial" panose="020B0604020202020204" pitchFamily="34" charset="0"/>
              </a:rPr>
              <a:t>Personalized fan profiles displaying rank and trophies.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• Participation History: </a:t>
            </a:r>
            <a:r>
              <a:rPr sz="900" b="0">
                <a:solidFill>
                  <a:srgbClr val="334155"/>
                </a:solidFill>
                <a:latin typeface="Arial" panose="020B0604020202020204" pitchFamily="34" charset="0"/>
              </a:rPr>
              <a:t>Review past submitted ballots and point breakdowns.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• Transactional Notifications: </a:t>
            </a:r>
            <a:r>
              <a:rPr sz="900" b="0">
                <a:solidFill>
                  <a:srgbClr val="334155"/>
                </a:solidFill>
                <a:latin typeface="Arial" panose="020B0604020202020204" pitchFamily="34" charset="0"/>
              </a:rPr>
              <a:t>Email confirmations and race result point summaries.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• Notification Preferences: </a:t>
            </a:r>
            <a:r>
              <a:rPr sz="900" b="0">
                <a:solidFill>
                  <a:srgbClr val="334155"/>
                </a:solidFill>
                <a:latin typeface="Arial" panose="020B0604020202020204" pitchFamily="34" charset="0"/>
              </a:rPr>
              <a:t>Configurable reminder alerts for upcoming session cutoffs.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74920"/>
            <a:ext cx="10728655" cy="1143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5184648"/>
            <a:ext cx="10436047" cy="486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78350F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💡  PLATFORM FEATURE SCOPE</a:t>
            </a:r>
          </a:p>
          <a:p>
            <a:pPr>
              <a:lnSpc>
                <a:spcPct val="115000"/>
              </a:lnSpc>
              <a:defRPr sz="850">
                <a:solidFill>
                  <a:srgbClr val="78350F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THE GRDX combines race information, prediction, competition, and engagement in one focused experience. All features depicted above represent implemented functionality in the active repository.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710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 b="1">
                <a:latin typeface="Arial" panose="020B0604020202020204" pitchFamily="34" charset="0"/>
              </a:rPr>
              <a:t>TECHNOLOGY &amp; ENGINEERING STACK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rPr sz="2200" b="1">
                <a:latin typeface="Arial" panose="020B0604020202020204" pitchFamily="34" charset="0"/>
              </a:rPr>
              <a:t>Slide 7 — Technology Stack</a:t>
            </a:r>
          </a:p>
          <a:p>
            <a:pPr>
              <a:lnSpc>
                <a:spcPct val="105000"/>
              </a:lnSpc>
              <a:defRPr sz="1000">
                <a:solidFill>
                  <a:srgbClr val="475569"/>
                </a:solidFill>
                <a:latin typeface="Segoe UI"/>
              </a:defRPr>
            </a:pPr>
            <a:r>
              <a:rPr sz="1050">
                <a:latin typeface="Arial" panose="020B0604020202020204" pitchFamily="34" charset="0"/>
              </a:rPr>
              <a:t>Built with a lightweight, serverless-oriented stack combining modern web frameworks and managed Google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6739" y="6510528"/>
            <a:ext cx="67326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Slide 7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68580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652881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LAYERED TECHNOLOGY ARCHITECTURE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803898"/>
              </p:ext>
            </p:extLst>
          </p:nvPr>
        </p:nvGraphicFramePr>
        <p:xfrm>
          <a:off x="914400" y="1645920"/>
          <a:ext cx="6492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950" b="1">
                          <a:latin typeface="Arial" panose="020B0604020202020204" pitchFamily="34" charset="0"/>
                        </a:rPr>
                        <a:t>Layer</a:t>
                      </a:r>
                    </a:p>
                  </a:txBody>
                  <a:tcPr marL="50800" marR="508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950" b="1">
                          <a:latin typeface="Arial" panose="020B0604020202020204" pitchFamily="34" charset="0"/>
                        </a:rPr>
                        <a:t>Technologies</a:t>
                      </a:r>
                    </a:p>
                  </a:txBody>
                  <a:tcPr marL="50800" marR="508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950" b="1">
                          <a:latin typeface="Arial" panose="020B0604020202020204" pitchFamily="34" charset="0"/>
                        </a:rPr>
                        <a:t>Role &amp; Responsibility</a:t>
                      </a:r>
                    </a:p>
                  </a:txBody>
                  <a:tcPr marL="50800" marR="50800" marT="38100" marB="38100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900" b="1">
                          <a:latin typeface="Arial" panose="020B0604020202020204" pitchFamily="34" charset="0"/>
                        </a:rPr>
                        <a:t>Frontend Layer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React 19, TypeScript, Vite, React Router 7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User interface, client navigation, state contexts, and fast build tooling.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900" b="1">
                          <a:latin typeface="Arial" panose="020B0604020202020204" pitchFamily="34" charset="0"/>
                        </a:rPr>
                        <a:t>Backend Layer</a:t>
                      </a:r>
                    </a:p>
                  </a:txBody>
                  <a:tcPr marL="50800" marR="50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Google Apps Script V8 Serverless Engine</a:t>
                      </a:r>
                    </a:p>
                  </a:txBody>
                  <a:tcPr marL="50800" marR="50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doGet/doPost API request gateway and application domain logic.</a:t>
                      </a:r>
                    </a:p>
                  </a:txBody>
                  <a:tcPr marL="50800" marR="50800" marT="38100" marB="381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900" b="1">
                          <a:latin typeface="Arial" panose="020B0604020202020204" pitchFamily="34" charset="0"/>
                        </a:rPr>
                        <a:t>Data Layer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Google Sheets, CacheService, LocalStorage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15 structured relational sheets, in-memory RAM cache, and browser cache.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900" b="1">
                          <a:latin typeface="Arial" panose="020B0604020202020204" pitchFamily="34" charset="0"/>
                        </a:rPr>
                        <a:t>Integrations Layer</a:t>
                      </a:r>
                    </a:p>
                  </a:txBody>
                  <a:tcPr marL="50800" marR="50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Google GIS, Jolpica F1 API, Google MailApp</a:t>
                      </a:r>
                    </a:p>
                  </a:txBody>
                  <a:tcPr marL="50800" marR="50800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Cryptographic token auth, motorsport telemetry, and transactional HTML email.</a:t>
                      </a:r>
                    </a:p>
                  </a:txBody>
                  <a:tcPr marL="50800" marR="50800" marT="38100" marB="381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900" b="1">
                          <a:latin typeface="Arial" panose="020B0604020202020204" pitchFamily="34" charset="0"/>
                        </a:rPr>
                        <a:t>Hosting &amp; Delivery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GitHub Pages Edge CDN, GitHub Actions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sz="900" b="0">
                          <a:latin typeface="Arial" panose="020B0604020202020204" pitchFamily="34" charset="0"/>
                        </a:rPr>
                        <a:t>Global edge static distribution and automated deploy.yml CI/CD workflows.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72400" y="1280160"/>
            <a:ext cx="3687775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1389888"/>
            <a:ext cx="3358591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ARCHITECTURAL RATIONALE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645920"/>
            <a:ext cx="3322015" cy="15051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Zero Infrastructure Cost: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Static edge frontend combined with serverless Google backend eliminates cloud compute and database hosting expenses.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Rapid Development: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Google Sheets provides transparent inspectability without requiring dedicated database management interfaces.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Type-Safe Frontend: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React 19 + TypeScript catches contract violations at compile time before deployment.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709160"/>
            <a:ext cx="3687775" cy="15087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18704" y="4818888"/>
            <a:ext cx="3395167" cy="8224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78350F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💡  ACCURACY &amp; SERVERLESS NOTE</a:t>
            </a:r>
          </a:p>
          <a:p>
            <a:pPr>
              <a:lnSpc>
                <a:spcPct val="115000"/>
              </a:lnSpc>
              <a:defRPr sz="850">
                <a:solidFill>
                  <a:srgbClr val="78350F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Do not describe this as a generic serverless architecture without qualification: the backend runs specifically inside Google Apps Script V8, with execution limits (6 min timeout, daily email quotas).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710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 b="1">
                <a:latin typeface="Arial" panose="020B0604020202020204" pitchFamily="34" charset="0"/>
              </a:rPr>
              <a:t>PRODUCT DIFFERENTIATION &amp; VALUE PROPOSITION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rPr sz="2200" b="1">
                <a:latin typeface="Arial" panose="020B0604020202020204" pitchFamily="34" charset="0"/>
              </a:rPr>
              <a:t>Slide 8 — What Makes THE GRDX Different?</a:t>
            </a:r>
          </a:p>
          <a:p>
            <a:pPr>
              <a:lnSpc>
                <a:spcPct val="105000"/>
              </a:lnSpc>
              <a:defRPr sz="1000">
                <a:solidFill>
                  <a:srgbClr val="475569"/>
                </a:solidFill>
                <a:latin typeface="Segoe UI"/>
              </a:defRPr>
            </a:pPr>
            <a:r>
              <a:rPr sz="1050">
                <a:latin typeface="Arial" panose="020B0604020202020204" pitchFamily="34" charset="0"/>
              </a:rPr>
              <a:t>Beyond a basic prediction website: making F1 prediction structured, immersive, and community-oriented.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6739" y="6510528"/>
            <a:ext cx="67326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Slide 8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298448"/>
            <a:ext cx="5175504" cy="457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426464"/>
            <a:ext cx="4846320" cy="99020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ct val="300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F1-Focused Experience</a:t>
            </a:r>
          </a:p>
          <a:p>
            <a:pPr>
              <a:lnSpc>
                <a:spcPct val="112000"/>
              </a:lnSpc>
              <a:spcAft>
                <a:spcPct val="0"/>
              </a:spcAft>
              <a:defRPr sz="900">
                <a:solidFill>
                  <a:srgbClr val="334155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Designed specifically around Formula 1 race weekends, rather than being a generic betting or sports skin.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1280160"/>
            <a:ext cx="52120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6383" y="1298448"/>
            <a:ext cx="5175504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0975" y="1426464"/>
            <a:ext cx="4846320" cy="99020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ct val="300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Session-Aware Predictions</a:t>
            </a:r>
          </a:p>
          <a:p>
            <a:pPr>
              <a:lnSpc>
                <a:spcPct val="112000"/>
              </a:lnSpc>
              <a:spcAft>
                <a:spcPct val="0"/>
              </a:spcAft>
              <a:defRPr sz="900">
                <a:solidFill>
                  <a:srgbClr val="334155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Predictions are organized by relevant sessions (Practice, Sprint, Quali, GP) with individual deadlines.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2120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9808" y="2944368"/>
            <a:ext cx="5175504" cy="457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072384"/>
            <a:ext cx="4846320" cy="99020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ct val="300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Circuit-Centered Identity</a:t>
            </a:r>
          </a:p>
          <a:p>
            <a:pPr>
              <a:lnSpc>
                <a:spcPct val="112000"/>
              </a:lnSpc>
              <a:spcAft>
                <a:spcPct val="0"/>
              </a:spcAft>
              <a:defRPr sz="900">
                <a:solidFill>
                  <a:srgbClr val="334155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Dynamic circuit SVG assets and track-specific telemetry connect prediction choices directly to real circuits.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2926080"/>
            <a:ext cx="52120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6383" y="2944368"/>
            <a:ext cx="5175504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30975" y="3072384"/>
            <a:ext cx="4846320" cy="99020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ct val="3000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Competitive Progression</a:t>
            </a:r>
          </a:p>
          <a:p>
            <a:pPr>
              <a:lnSpc>
                <a:spcPct val="112000"/>
              </a:lnSpc>
              <a:spcAft>
                <a:spcPct val="0"/>
              </a:spcAft>
              <a:defRPr sz="900">
                <a:solidFill>
                  <a:srgbClr val="334155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Rule-based scoring, global leaderboards, and tiered achievements give users measurable seasonal progression.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52120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8" y="4590288"/>
            <a:ext cx="5175504" cy="457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660900"/>
            <a:ext cx="4846320" cy="282129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sz="950" b="1">
                <a:latin typeface="Arial" panose="020B0604020202020204" pitchFamily="34" charset="0"/>
              </a:rPr>
              <a:t>Multiple Engagement Modes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rPr sz="800">
                <a:latin typeface="Arial" panose="020B0604020202020204" pitchFamily="34" charset="0"/>
              </a:rPr>
              <a:t>Fans engage across predictions, motorsport trivia quizzes, and championship research in one platform.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8095" y="4572000"/>
            <a:ext cx="52120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6383" y="4590288"/>
            <a:ext cx="5175504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0975" y="4660900"/>
            <a:ext cx="4846320" cy="282129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sz="950" b="1">
                <a:latin typeface="Arial" panose="020B0604020202020204" pitchFamily="34" charset="0"/>
              </a:rPr>
              <a:t>Community-First Direction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rPr sz="800">
                <a:latin typeface="Arial" panose="020B0604020202020204" pitchFamily="34" charset="0"/>
              </a:rPr>
              <a:t>Built to foster friendly rivalry and shared excitement among friends and online motorsport communities.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7824" y="5276088"/>
            <a:ext cx="10436047" cy="486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78350F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💡  PRODUCT POSITIONING NOTE</a:t>
            </a:r>
          </a:p>
          <a:p>
            <a:pPr>
              <a:lnSpc>
                <a:spcPct val="115000"/>
              </a:lnSpc>
              <a:defRPr sz="850">
                <a:solidFill>
                  <a:srgbClr val="78350F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The goal is to make F1 prediction more structured, immersive, and community-oriented. Avoid claiming these capabilities are unique across the entire market unless comparative empirical research supports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710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 b="1">
                <a:latin typeface="Arial" panose="020B0604020202020204" pitchFamily="34" charset="0"/>
              </a:rPr>
              <a:t>STRATEGIC ROADMAP &amp; PRODUCT VISION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rPr sz="2200" b="1">
                <a:latin typeface="Arial" panose="020B0604020202020204" pitchFamily="34" charset="0"/>
              </a:rPr>
              <a:t>Slide 9 — Product Vision and Future Roadmap</a:t>
            </a:r>
          </a:p>
          <a:p>
            <a:pPr>
              <a:lnSpc>
                <a:spcPct val="105000"/>
              </a:lnSpc>
              <a:defRPr sz="1000">
                <a:solidFill>
                  <a:srgbClr val="475569"/>
                </a:solidFill>
                <a:latin typeface="Segoe UI"/>
              </a:defRPr>
            </a:pPr>
            <a:r>
              <a:rPr sz="1050">
                <a:latin typeface="Arial" panose="020B0604020202020204" pitchFamily="34" charset="0"/>
              </a:rPr>
              <a:t>Build a reliable prediction platform first, deepen user engagement next, and expand into a richer F1 community experience over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6739" y="6510528"/>
            <a:ext cx="67326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Slide 9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328416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298448"/>
            <a:ext cx="329184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463040"/>
            <a:ext cx="2962656" cy="19971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6A34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PHASE 1 — FOUNDATION</a:t>
            </a:r>
          </a:p>
          <a:p>
            <a:pPr>
              <a:spcAft>
                <a:spcPts val="10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Reliability &amp; Core Experience (In Progress)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End-to-End Verification: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Verify prediction submission, deadline locks, and scoring.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Resilient Fallbacks: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Improve handling of unavailable upstream APIs and stale data.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Calendar Consistency: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Strengthen sync across race sessions, results, and boards.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Multi-Device UX: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Refine responsive desktop and mobile experiences.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280160"/>
            <a:ext cx="3328416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98264" y="1298448"/>
            <a:ext cx="3291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6" y="1463040"/>
            <a:ext cx="2962656" cy="19971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PHASE 2 — ENGAGEMENT</a:t>
            </a:r>
          </a:p>
          <a:p>
            <a:pPr>
              <a:spcAft>
                <a:spcPts val="10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Community &amp; Competition (Planned)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Tiered Achievements: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Season-long progression milestones and badge showcases.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Expanded Quiz Engine: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Deeper trivia categories and interactive knowledge activities.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Smart Notifications: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User-configurable race-weekend alerts and result digests.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Private Community Leagues: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Custom leagues for friends and motorsport clubs.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1280160"/>
            <a:ext cx="3328416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98448"/>
            <a:ext cx="3291840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1463040"/>
            <a:ext cx="2962656" cy="19971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9333E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PHASE 3 — LONG-TERM VISION</a:t>
            </a:r>
          </a:p>
          <a:p>
            <a:pPr>
              <a:spcAft>
                <a:spcPts val="10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Complete Community Hub (Proposed)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Race &amp; Circuit Analytics: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Rich telemetry, sector trends, and circuit insights.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Predictive Accuracy Insights: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Historical user performance metrics and prediction analytics.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Social Participation Tools: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Live race-weekend discussion and community reactions.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High-Scale Architecture: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Evaluate caching and indexing as community grows.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710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 b="1">
                <a:latin typeface="Arial" panose="020B0604020202020204" pitchFamily="34" charset="0"/>
              </a:rPr>
              <a:t>SECURITY &amp; TRUST CONTROLS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rPr sz="2200" b="1">
                <a:latin typeface="Arial" panose="020B0604020202020204" pitchFamily="34" charset="0"/>
              </a:rPr>
              <a:t>Slide 10 — Security, Privacy, and Data Integrity</a:t>
            </a:r>
          </a:p>
          <a:p>
            <a:pPr>
              <a:lnSpc>
                <a:spcPct val="105000"/>
              </a:lnSpc>
              <a:defRPr sz="1000">
                <a:solidFill>
                  <a:srgbClr val="475569"/>
                </a:solidFill>
                <a:latin typeface="Segoe UI"/>
              </a:defRPr>
            </a:pPr>
            <a:r>
              <a:rPr sz="1050">
                <a:latin typeface="Arial" panose="020B0604020202020204" pitchFamily="34" charset="0"/>
              </a:rPr>
              <a:t>Security depends on backend enforcement and data-integrity controls, not just the authentication interface.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2618" y="6510528"/>
            <a:ext cx="737382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Slide 10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10399471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SECURITY &amp; INTEGRITY FLOWCHART</a:t>
            </a:r>
          </a:p>
        </p:txBody>
      </p:sp>
      <p:pic>
        <p:nvPicPr>
          <p:cNvPr id="11" name="Picture 10" descr="slide_7_auth_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588" y="1645920"/>
            <a:ext cx="9724518" cy="2194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4069080"/>
            <a:ext cx="24688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4206240"/>
            <a:ext cx="2176272" cy="95737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E10600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ZERO-TRUST AUTHENTICATION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Server Verification: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Token validated via Google UserInfo API.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Immutable sub Anchor: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Account bound to Google Subject 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4069080"/>
            <a:ext cx="24688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4206240"/>
            <a:ext cx="2176272" cy="95737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E10600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ROLE-BASED ACCESS CONTROL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Server-Side Roles: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Privileged actions require verified 'admin' role.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Operation Validation: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Admin tools enforce server checks on every call.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8192" y="4069080"/>
            <a:ext cx="24688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54496" y="4206240"/>
            <a:ext cx="2176272" cy="112114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E10600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PREDICTION INTEGRITY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Server-Clock Deadlines: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Submissions cutoff 5 min prior to session.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LockService Mutex: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Serializes writes to eliminate race conditions.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96528" y="4069080"/>
            <a:ext cx="24688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42832" y="4206240"/>
            <a:ext cx="2176272" cy="94198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E10600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DATA PRIVACY &amp; NOTIFICATIONS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Token Redaction: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Auth secrets omitted from public endpoints.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950">
                <a:latin typeface="Arial" panose="020B0604020202020204" pitchFamily="34" charset="0"/>
              </a:rPr>
              <a:t>• Idempotent Worker: </a:t>
            </a:r>
            <a:r>
              <a:rPr sz="950" b="0">
                <a:solidFill>
                  <a:srgbClr val="334155"/>
                </a:solidFill>
                <a:latin typeface="Arial" panose="020B0604020202020204" pitchFamily="34" charset="0"/>
              </a:rPr>
              <a:t>Deduplication checks prevent duplicate emails.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710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 b="1">
                <a:latin typeface="Arial" panose="020B0604020202020204" pitchFamily="34" charset="0"/>
              </a:rPr>
              <a:t>PRODUCT SHOWCASE  |  USER EXPERIENCE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rPr sz="2200" b="1">
                <a:latin typeface="Arial" panose="020B0604020202020204" pitchFamily="34" charset="0"/>
              </a:rPr>
              <a:t>Slide 11 — Product Showcase: Desktop Experience</a:t>
            </a:r>
          </a:p>
          <a:p>
            <a:pPr>
              <a:lnSpc>
                <a:spcPct val="105000"/>
              </a:lnSpc>
              <a:defRPr sz="1000">
                <a:solidFill>
                  <a:srgbClr val="475569"/>
                </a:solidFill>
                <a:latin typeface="Segoe UI"/>
              </a:defRPr>
            </a:pPr>
            <a:r>
              <a:rPr sz="1050">
                <a:latin typeface="Arial" panose="020B0604020202020204" pitchFamily="34" charset="0"/>
              </a:rPr>
              <a:t>Demonstrating how the underlying architecture translates into a usable, cohesive, and modern web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2618" y="6510528"/>
            <a:ext cx="737382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Slide 11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68580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652881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DESKTOP HOMEPAGE &amp; HERO DASHBOARD</a:t>
            </a:r>
          </a:p>
        </p:txBody>
      </p:sp>
      <p:pic>
        <p:nvPicPr>
          <p:cNvPr id="11" name="Picture 10" descr="desktop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6583680" cy="4114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72400" y="1280160"/>
            <a:ext cx="3687775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1389888"/>
            <a:ext cx="3358591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PREDICTIONS HUB INTERFACE</a:t>
            </a:r>
          </a:p>
        </p:txBody>
      </p:sp>
      <p:pic>
        <p:nvPicPr>
          <p:cNvPr id="14" name="Picture 13" descr="desktop_predic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095" y="1645920"/>
            <a:ext cx="3072384" cy="19202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772400" y="3794760"/>
            <a:ext cx="3687775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36992" y="3904488"/>
            <a:ext cx="3358591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COMMUNITY LEADERBOARD &amp; STANDINGS</a:t>
            </a:r>
          </a:p>
        </p:txBody>
      </p:sp>
      <p:pic>
        <p:nvPicPr>
          <p:cNvPr id="17" name="Picture 16" descr="desktop_leader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3519" y="4160520"/>
            <a:ext cx="3145536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710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0600"/>
                </a:solidFill>
                <a:latin typeface="Segoe UI"/>
              </a:defRPr>
            </a:pPr>
            <a:r>
              <a:rPr sz="950" b="1">
                <a:latin typeface="Arial" panose="020B0604020202020204" pitchFamily="34" charset="0"/>
              </a:rPr>
              <a:t>PRODUCT SHOWCASE  |  RESPONSIVE MOBILE EXPERIENCE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rPr sz="2200" b="1">
                <a:latin typeface="Arial" panose="020B0604020202020204" pitchFamily="34" charset="0"/>
              </a:rPr>
              <a:t>Slide 12 — Product Showcase: Mobile Experience</a:t>
            </a:r>
          </a:p>
          <a:p>
            <a:pPr>
              <a:lnSpc>
                <a:spcPct val="105000"/>
              </a:lnSpc>
              <a:defRPr sz="1000">
                <a:solidFill>
                  <a:srgbClr val="475569"/>
                </a:solidFill>
                <a:latin typeface="Segoe UI"/>
              </a:defRPr>
            </a:pPr>
            <a:r>
              <a:rPr sz="1050">
                <a:latin typeface="Arial" panose="020B0604020202020204" pitchFamily="34" charset="0"/>
              </a:rPr>
              <a:t>Demonstrating how users access the prediction experience and key platform features on mobile screens.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rPr sz="900">
                <a:latin typeface="Arial" panose="020B0604020202020204" pitchFamily="34" charset="0"/>
              </a:rPr>
              <a:t>THE GRDX — F1 Prediction &amp; Community Platform  |  Product, Architecture &amp; Roadmap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2618" y="6510528"/>
            <a:ext cx="737382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  <a:latin typeface="Segoe UI"/>
              </a:defRPr>
            </a:pPr>
            <a:r>
              <a:rPr sz="900" b="1">
                <a:latin typeface="Arial" panose="020B0604020202020204" pitchFamily="34" charset="0"/>
              </a:rPr>
              <a:t>Slide 12 of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328416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299923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MOBILE HOMEPAGE &amp; COUNTDOWN</a:t>
            </a:r>
          </a:p>
        </p:txBody>
      </p:sp>
      <p:pic>
        <p:nvPicPr>
          <p:cNvPr id="11" name="Picture 10" descr="mobile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596" y="1691640"/>
            <a:ext cx="1880262" cy="4069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5806440"/>
            <a:ext cx="3054096" cy="1769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rPr sz="850">
                <a:latin typeface="Arial" panose="020B0604020202020204" pitchFamily="34" charset="0"/>
              </a:rPr>
              <a:t>Responsive dashboard with race countdown &amp; quick links.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280160"/>
            <a:ext cx="3328416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389888"/>
            <a:ext cx="299923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MOBILE PREDICTION HUB</a:t>
            </a:r>
          </a:p>
        </p:txBody>
      </p:sp>
      <p:pic>
        <p:nvPicPr>
          <p:cNvPr id="15" name="Picture 14" descr="mobile_predic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052" y="1691640"/>
            <a:ext cx="1880262" cy="4069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17136" y="5806440"/>
            <a:ext cx="3054096" cy="1769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rPr sz="850">
                <a:latin typeface="Arial" panose="020B0604020202020204" pitchFamily="34" charset="0"/>
              </a:rPr>
              <a:t>Touch-friendly prediction rounds and driver selectors.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280160"/>
            <a:ext cx="3328416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4" y="1389888"/>
            <a:ext cx="299923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050" b="1">
                <a:latin typeface="Arial" panose="020B0604020202020204" pitchFamily="34" charset="0"/>
              </a:rPr>
              <a:t>MOBILE LEADERBOARD</a:t>
            </a:r>
          </a:p>
        </p:txBody>
      </p:sp>
      <p:pic>
        <p:nvPicPr>
          <p:cNvPr id="19" name="Picture 18" descr="mobile_leader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2508" y="1691640"/>
            <a:ext cx="1880262" cy="4069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65592" y="5806440"/>
            <a:ext cx="3054096" cy="17697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rPr sz="850">
                <a:latin typeface="Arial" panose="020B0604020202020204" pitchFamily="34" charset="0"/>
              </a:rPr>
              <a:t>Fast-loading community rankings and user points tally.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3167</Words>
  <Application>Microsoft Office PowerPoint</Application>
  <PresentationFormat>Widescreen</PresentationFormat>
  <Paragraphs>267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jalnekar</cp:lastModifiedBy>
  <cp:revision>4</cp:revision>
  <dcterms:created xsi:type="dcterms:W3CDTF">2013-01-27T09:14:16Z</dcterms:created>
  <dcterms:modified xsi:type="dcterms:W3CDTF">2026-10-24T13:29:08Z</dcterms:modified>
  <cp:category/>
</cp:coreProperties>
</file>