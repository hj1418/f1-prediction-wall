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GRDX Technical Architecture presentation. This deck presents the complete architecture blueprint following the C4 model, domain workflows, relational data modeling on Google Sheets, and engineering trade-offs.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Recommended presentation sequence: Slides 1-4 establish what the system is and how it is structured. Slides 5-8 cover data schemas and business workflows. Slides 9-10 cover deployment processes and engineering trade-offs.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GRDX provides a motorsport-focused prediction and community experience. This context view establishes the system boundary before we examine its internal architecture.”</a:t>
            </a:r>
          </a:p>
          <a:p/>
          <a:p>
            <a:r>
              <a:t>Validation note: The repository documents these integrations, but confirm that each is enabled and actively used in the current production deployment before describing it as a live dependency.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frontend is a static web application, while the backend runs in Apps Script. Google Sheets provides the main persistent data store, avoiding the need to operate a conventional application server and database server.”</a:t>
            </a:r>
          </a:p>
          <a:p/>
          <a:p>
            <a:r>
              <a:t>Validation note: The exact request paths and whether every API action reaches the live backend must be checked against the frontend API client. The repository includes mock-data fallback behavior.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frontend is organized around feature UI, shared context, and a client-service layer. This separation keeps UI components from needing to manage every backend detail themselves.”</a:t>
            </a:r>
          </a:p>
          <a:p/>
          <a:p>
            <a:r>
              <a:t>Validation note: Treat these as architectural groupings, not necessarily the exact names of every component file. Confirm the actual imports and call relationships before drawing fine-grained module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is organized around an action-dispatch pattern rather than a set of separately deployed microservices. Its services execute inside the same Apps Script project.”</a:t>
            </a:r>
          </a:p>
          <a:p/>
          <a:p>
            <a:r>
              <a:t>Validation note: This is a conceptual component map. In the final version, remove any arrow or component that cannot be traced to an actual handler or function in backend/Code.gs.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model separates identity, race structure, prediction submissions, official results, scoring, and engagement features. This makes the business relationships easier to reason about even though the persistence layer is Google Sheets.”</a:t>
            </a:r>
          </a:p>
          <a:p/>
          <a:p>
            <a:r>
              <a:t>Important: This is a conceptual ERD based on relationships described in docs/ARCHITECTURE.md. Verify the real worksheet names, key columns, uniqueness rules, and lookup logic in the code.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prediction is tied to a specific session and round. Once a submission is accepted, the scoring process compares it with the official result and produces the points used in the leaderboard.”</a:t>
            </a:r>
          </a:p>
          <a:p/>
          <a:p>
            <a:r>
              <a:t>Validation note: Confirm the precise deadline calculation, update behavior for existing predictions, result-ingestion mechanism, and duplicate-scoring protection against the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not just a login screen. The backend must independently validate the caller, enforce permissions, and protect sensitive updates even if a client request is modified.”</a:t>
            </a:r>
          </a:p>
          <a:p/>
          <a:p>
            <a:r>
              <a:t>Validation note: The repository describes both Google authentication and native credential-related flows. Do not label the system passwordless or Google-only without resolving that distinction in the actual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email delivery into a queue allows the platform to manage delivery independently of the original user action. Tracking and retrying failures can improve operational reliability, provided the queue's actual retry and idempotency logic is implemented correctly.”</a:t>
            </a:r>
          </a:p>
          <a:p/>
          <a:p>
            <a:r>
              <a:t>Validation note: Confirm the exact retry count and time-driven trigger rules in the code.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frontend deployment pipeline and backend release process are separate. This is important because a successful website build does not necessarily mean the Apps Script backend has been updated or configured correctly.”</a:t>
            </a:r>
          </a:p>
          <a:p/>
          <a:p>
            <a:r>
              <a:t>Validation note: Confirm the actual workflow triggers, required checks, deployment credentials, and whether backend deployment is automated or manual before claiming end-to-end CI/CD.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GRDX prioritizes low-cost infrastructure and straightforward maintenance. Its reliability depends on validating data integrity, handling external failures, controlling concurrent writes, and distinguishing live data from fallback behavior.”</a:t>
            </a:r>
          </a:p>
          <a:p/>
          <a:p>
            <a:r>
              <a:t>These are engineering considerations, not claims that every failure mode is already mitigated. Present each control as implemented only after verifying the corresponding source.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GRDX achieves a remarkable balance between zero-cost operational simplicity and robust architectural design. Adhering to the verification checklist and implementing edge caching will ensure seamless scale during peak motorsport race weekends.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332720" cy="365760"/>
          </a:xfrm>
          <a:prstGeom prst="rect">
            <a:avLst/>
          </a:prstGeom>
          <a:noFill/>
        </p:spPr>
        <p:txBody>
          <a:bodyPr wrap="none" lIns="0" tIns="0">
            <a:spAutoFit/>
          </a:bodyPr>
          <a:lstStyle/>
          <a:p>
            <a:pPr>
              <a:defRPr sz="1100" b="1">
                <a:solidFill>
                  <a:srgbClr val="E10600"/>
                </a:solidFill>
                <a:latin typeface="Segoe UI"/>
              </a:defRPr>
            </a:pPr>
            <a:r>
              <a:t>TECHNICAL ARCHITECTURE BLUEPRINT  |  PRODUCTION SPECIFICATION V2</a:t>
            </a:r>
          </a:p>
        </p:txBody>
      </p:sp>
      <p:sp>
        <p:nvSpPr>
          <p:cNvPr id="5" name="TextBox 4"/>
          <p:cNvSpPr txBox="1"/>
          <p:nvPr/>
        </p:nvSpPr>
        <p:spPr>
          <a:xfrm>
            <a:off x="914400" y="1508760"/>
            <a:ext cx="10332720" cy="1645920"/>
          </a:xfrm>
          <a:prstGeom prst="rect">
            <a:avLst/>
          </a:prstGeom>
          <a:noFill/>
        </p:spPr>
        <p:txBody>
          <a:bodyPr wrap="square" lIns="0" tIns="0">
            <a:spAutoFit/>
          </a:bodyPr>
          <a:lstStyle/>
          <a:p>
            <a:pPr>
              <a:spcAft>
                <a:spcPts val="400"/>
              </a:spcAft>
              <a:defRPr sz="4400" b="1">
                <a:solidFill>
                  <a:srgbClr val="0F172A"/>
                </a:solidFill>
                <a:latin typeface="Segoe UI"/>
              </a:defRPr>
            </a:pPr>
            <a:r>
              <a:t>THE GRDX</a:t>
            </a:r>
          </a:p>
          <a:p>
            <a:pPr>
              <a:spcAft>
                <a:spcPts val="800"/>
              </a:spcAft>
              <a:defRPr sz="2200" b="1">
                <a:solidFill>
                  <a:srgbClr val="EB5722"/>
                </a:solidFill>
                <a:latin typeface="Segoe UI"/>
              </a:defRPr>
            </a:pPr>
            <a:r>
              <a:t>Complete Technical Architecture Presentation</a:t>
            </a:r>
          </a:p>
          <a:p>
            <a:pPr>
              <a:defRPr sz="1200">
                <a:solidFill>
                  <a:srgbClr val="475569"/>
                </a:solidFill>
                <a:latin typeface="Segoe UI"/>
              </a:defRPr>
            </a:pPr>
            <a:r>
              <a:t>Comprehensive C4 architectural model, container topology, domain services, relational data model, and production engineering considerations for the next-generation motorsport prediction platform.</a:t>
            </a:r>
          </a:p>
        </p:txBody>
      </p:sp>
      <p:sp>
        <p:nvSpPr>
          <p:cNvPr id="6" name="Rounded Rectangle 5"/>
          <p:cNvSpPr/>
          <p:nvPr/>
        </p:nvSpPr>
        <p:spPr>
          <a:xfrm>
            <a:off x="914400" y="3566160"/>
            <a:ext cx="2450592"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2688" y="3584448"/>
            <a:ext cx="2414016"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3749040"/>
            <a:ext cx="2121408" cy="1737360"/>
          </a:xfrm>
          <a:prstGeom prst="rect">
            <a:avLst/>
          </a:prstGeom>
          <a:noFill/>
        </p:spPr>
        <p:txBody>
          <a:bodyPr wrap="square" lIns="0" tIns="0">
            <a:spAutoFit/>
          </a:bodyPr>
          <a:lstStyle/>
          <a:p>
            <a:pPr>
              <a:spcAft>
                <a:spcPts val="400"/>
              </a:spcAft>
              <a:defRPr sz="850" b="1">
                <a:solidFill>
                  <a:srgbClr val="2563EB"/>
                </a:solidFill>
                <a:latin typeface="Segoe UI"/>
              </a:defRPr>
            </a:pPr>
            <a:r>
              <a:t>FRONTEND TIER</a:t>
            </a:r>
          </a:p>
          <a:p>
            <a:pPr>
              <a:spcAft>
                <a:spcPts val="400"/>
              </a:spcAft>
              <a:defRPr sz="1100" b="1">
                <a:solidFill>
                  <a:srgbClr val="0F172A"/>
                </a:solidFill>
                <a:latin typeface="Segoe UI"/>
              </a:defRPr>
            </a:pPr>
            <a:r>
              <a:t>React 19 + TypeScript SPA</a:t>
            </a:r>
          </a:p>
          <a:p>
            <a:pPr>
              <a:defRPr sz="900">
                <a:solidFill>
                  <a:srgbClr val="334155"/>
                </a:solidFill>
                <a:latin typeface="Segoe UI"/>
              </a:defRPr>
            </a:pPr>
            <a:r>
              <a:t>Vite build engine, React Router 7, Vanilla CSS design system, hosted on GitHub Pages Edge CDN.</a:t>
            </a:r>
          </a:p>
        </p:txBody>
      </p:sp>
      <p:sp>
        <p:nvSpPr>
          <p:cNvPr id="9" name="Rounded Rectangle 8"/>
          <p:cNvSpPr/>
          <p:nvPr/>
        </p:nvSpPr>
        <p:spPr>
          <a:xfrm>
            <a:off x="3547872" y="3566160"/>
            <a:ext cx="2450592"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66160" y="3584448"/>
            <a:ext cx="2414016"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2464" y="3749040"/>
            <a:ext cx="2121408" cy="1737360"/>
          </a:xfrm>
          <a:prstGeom prst="rect">
            <a:avLst/>
          </a:prstGeom>
          <a:noFill/>
        </p:spPr>
        <p:txBody>
          <a:bodyPr wrap="square" lIns="0" tIns="0">
            <a:spAutoFit/>
          </a:bodyPr>
          <a:lstStyle/>
          <a:p>
            <a:pPr>
              <a:spcAft>
                <a:spcPts val="400"/>
              </a:spcAft>
              <a:defRPr sz="850" b="1">
                <a:solidFill>
                  <a:srgbClr val="16A34A"/>
                </a:solidFill>
                <a:latin typeface="Segoe UI"/>
              </a:defRPr>
            </a:pPr>
            <a:r>
              <a:t>BACKEND ENGINE</a:t>
            </a:r>
          </a:p>
          <a:p>
            <a:pPr>
              <a:spcAft>
                <a:spcPts val="400"/>
              </a:spcAft>
              <a:defRPr sz="1100" b="1">
                <a:solidFill>
                  <a:srgbClr val="0F172A"/>
                </a:solidFill>
                <a:latin typeface="Segoe UI"/>
              </a:defRPr>
            </a:pPr>
            <a:r>
              <a:t>Google Apps Script V8</a:t>
            </a:r>
          </a:p>
          <a:p>
            <a:pPr>
              <a:defRPr sz="900">
                <a:solidFill>
                  <a:srgbClr val="334155"/>
                </a:solidFill>
                <a:latin typeface="Segoe UI"/>
              </a:defRPr>
            </a:pPr>
            <a:r>
              <a:t>doGet/doPost API gateway, LockService distributed mutex, CacheService RAM cache, and business services.</a:t>
            </a:r>
          </a:p>
        </p:txBody>
      </p:sp>
      <p:sp>
        <p:nvSpPr>
          <p:cNvPr id="12" name="Rounded Rectangle 11"/>
          <p:cNvSpPr/>
          <p:nvPr/>
        </p:nvSpPr>
        <p:spPr>
          <a:xfrm>
            <a:off x="6181344" y="3566160"/>
            <a:ext cx="2450592"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3584448"/>
            <a:ext cx="2414016" cy="54864"/>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5936" y="3749040"/>
            <a:ext cx="2121408" cy="1737360"/>
          </a:xfrm>
          <a:prstGeom prst="rect">
            <a:avLst/>
          </a:prstGeom>
          <a:noFill/>
        </p:spPr>
        <p:txBody>
          <a:bodyPr wrap="square" lIns="0" tIns="0">
            <a:spAutoFit/>
          </a:bodyPr>
          <a:lstStyle/>
          <a:p>
            <a:pPr>
              <a:spcAft>
                <a:spcPts val="400"/>
              </a:spcAft>
              <a:defRPr sz="850" b="1">
                <a:solidFill>
                  <a:srgbClr val="9333EA"/>
                </a:solidFill>
                <a:latin typeface="Segoe UI"/>
              </a:defRPr>
            </a:pPr>
            <a:r>
              <a:t>PERSISTENT STORE</a:t>
            </a:r>
          </a:p>
          <a:p>
            <a:pPr>
              <a:spcAft>
                <a:spcPts val="400"/>
              </a:spcAft>
              <a:defRPr sz="1100" b="1">
                <a:solidFill>
                  <a:srgbClr val="0F172A"/>
                </a:solidFill>
                <a:latin typeface="Segoe UI"/>
              </a:defRPr>
            </a:pPr>
            <a:r>
              <a:t>Google Sheets Cloud DB</a:t>
            </a:r>
          </a:p>
          <a:p>
            <a:pPr>
              <a:defRPr sz="900">
                <a:solidFill>
                  <a:srgbClr val="334155"/>
                </a:solidFill>
                <a:latin typeface="Segoe UI"/>
              </a:defRPr>
            </a:pPr>
            <a:r>
              <a:t>15 structured worksheets, relational abstraction, automated version history, and audit logs.</a:t>
            </a:r>
          </a:p>
        </p:txBody>
      </p:sp>
      <p:sp>
        <p:nvSpPr>
          <p:cNvPr id="15" name="Rounded Rectangle 14"/>
          <p:cNvSpPr/>
          <p:nvPr/>
        </p:nvSpPr>
        <p:spPr>
          <a:xfrm>
            <a:off x="8814816" y="3566160"/>
            <a:ext cx="2450592"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33104" y="3584448"/>
            <a:ext cx="2414016"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79408" y="3749040"/>
            <a:ext cx="2121408" cy="1737360"/>
          </a:xfrm>
          <a:prstGeom prst="rect">
            <a:avLst/>
          </a:prstGeom>
          <a:noFill/>
        </p:spPr>
        <p:txBody>
          <a:bodyPr wrap="square" lIns="0" tIns="0">
            <a:spAutoFit/>
          </a:bodyPr>
          <a:lstStyle/>
          <a:p>
            <a:pPr>
              <a:spcAft>
                <a:spcPts val="400"/>
              </a:spcAft>
              <a:defRPr sz="850" b="1">
                <a:solidFill>
                  <a:srgbClr val="D97706"/>
                </a:solidFill>
                <a:latin typeface="Segoe UI"/>
              </a:defRPr>
            </a:pPr>
            <a:r>
              <a:t>ASYNC WORKERS</a:t>
            </a:r>
          </a:p>
          <a:p>
            <a:pPr>
              <a:spcAft>
                <a:spcPts val="400"/>
              </a:spcAft>
              <a:defRPr sz="1100" b="1">
                <a:solidFill>
                  <a:srgbClr val="0F172A"/>
                </a:solidFill>
                <a:latin typeface="Segoe UI"/>
              </a:defRPr>
            </a:pPr>
            <a:r>
              <a:t>Decoupled Notification Engine</a:t>
            </a:r>
          </a:p>
          <a:p>
            <a:pPr>
              <a:defRPr sz="900">
                <a:solidFill>
                  <a:srgbClr val="334155"/>
                </a:solidFill>
                <a:latin typeface="Segoe UI"/>
              </a:defRPr>
            </a:pPr>
            <a:r>
              <a:t>Time-driven queue processor, idempotency verification, exponential retries, and Google MailApp delivery.</a:t>
            </a:r>
          </a:p>
        </p:txBody>
      </p:sp>
      <p:sp>
        <p:nvSpPr>
          <p:cNvPr id="18" name="TextBox 17"/>
          <p:cNvSpPr txBox="1"/>
          <p:nvPr/>
        </p:nvSpPr>
        <p:spPr>
          <a:xfrm>
            <a:off x="914400" y="6035040"/>
            <a:ext cx="10332720" cy="365760"/>
          </a:xfrm>
          <a:prstGeom prst="rect">
            <a:avLst/>
          </a:prstGeom>
          <a:noFill/>
        </p:spPr>
        <p:txBody>
          <a:bodyPr wrap="none" lIns="0" tIns="0">
            <a:spAutoFit/>
          </a:bodyPr>
          <a:lstStyle/>
          <a:p>
            <a:pPr>
              <a:defRPr sz="900" b="1">
                <a:solidFill>
                  <a:srgbClr val="94A3B8"/>
                </a:solidFill>
                <a:latin typeface="Segoe UI"/>
              </a:defRPr>
            </a:pPr>
            <a:r>
              <a:t>THE GRDX TECHNICAL DECK  |  10 ARCHITECTURE BLUEPRINT SLIDES  |  CONFIDENTIAL &amp; PROPRIETARY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868680"/>
          </a:xfrm>
          <a:prstGeom prst="rect">
            <a:avLst/>
          </a:prstGeom>
          <a:noFill/>
        </p:spPr>
        <p:txBody>
          <a:bodyPr wrap="square" lIns="0" tIns="0" rIns="0" bIns="0">
            <a:spAutoFit/>
          </a:bodyPr>
          <a:lstStyle/>
          <a:p>
            <a:pPr>
              <a:spcAft>
                <a:spcPts val="200"/>
              </a:spcAft>
              <a:defRPr sz="850" b="1">
                <a:solidFill>
                  <a:srgbClr val="E10600"/>
                </a:solidFill>
                <a:latin typeface="Segoe UI"/>
              </a:defRPr>
            </a:pPr>
            <a:r>
              <a:t>ARCHITECTURE ROADMAP &amp; BLUEPRINT OVERVIEW</a:t>
            </a:r>
          </a:p>
          <a:p>
            <a:pPr>
              <a:spcAft>
                <a:spcPts val="200"/>
              </a:spcAft>
              <a:defRPr sz="2000" b="1">
                <a:solidFill>
                  <a:srgbClr val="0F172A"/>
                </a:solidFill>
                <a:latin typeface="Segoe UI"/>
              </a:defRPr>
            </a:pPr>
            <a:r>
              <a:t>Deck Structure &amp; Presentation Agenda</a:t>
            </a:r>
          </a:p>
          <a:p>
            <a:pPr>
              <a:defRPr sz="1050">
                <a:solidFill>
                  <a:srgbClr val="475569"/>
                </a:solidFill>
                <a:latin typeface="Segoe UI"/>
              </a:defRPr>
            </a:pPr>
            <a:r>
              <a:t>Ten-slide architecture narrative covering system topology, component architecture, data model, and engineering trade-offs.</a:t>
            </a:r>
          </a:p>
        </p:txBody>
      </p:sp>
      <p:sp>
        <p:nvSpPr>
          <p:cNvPr id="5" name="Rectangle 4"/>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10728655" cy="274320"/>
          </a:xfrm>
          <a:prstGeom prst="rect">
            <a:avLst/>
          </a:prstGeom>
          <a:noFill/>
        </p:spPr>
        <p:txBody>
          <a:bodyPr wrap="square" lIns="0" tIns="0" rIns="0" bIns="0">
            <a:spAutoFit/>
          </a:bodyPr>
          <a:lstStyle/>
          <a:p>
            <a:pPr>
              <a:defRPr sz="850">
                <a:solidFill>
                  <a:srgbClr val="94A3B8"/>
                </a:solidFill>
                <a:latin typeface="Segoe UI"/>
              </a:defRPr>
            </a:pPr>
            <a:r>
              <a:t>THE GRDX — Motorsport Prediction &amp; Community Platform  |  Technical Architecture Specification</a:t>
            </a:r>
          </a:p>
        </p:txBody>
      </p:sp>
      <p:sp>
        <p:nvSpPr>
          <p:cNvPr id="8" name="TextBox 7"/>
          <p:cNvSpPr txBox="1"/>
          <p:nvPr/>
        </p:nvSpPr>
        <p:spPr>
          <a:xfrm>
            <a:off x="9601200" y="6510528"/>
            <a:ext cx="1828800" cy="274320"/>
          </a:xfrm>
          <a:prstGeom prst="rect">
            <a:avLst/>
          </a:prstGeom>
          <a:noFill/>
        </p:spPr>
        <p:txBody>
          <a:bodyPr wrap="none" lIns="0" tIns="0" rIns="0" bIns="0">
            <a:spAutoFit/>
          </a:bodyPr>
          <a:lstStyle/>
          <a:p>
            <a:pPr algn="r">
              <a:defRPr sz="850" b="1">
                <a:solidFill>
                  <a:srgbClr val="475569"/>
                </a:solidFill>
                <a:latin typeface="Segoe UI"/>
              </a:defRPr>
            </a:pPr>
            <a:r>
              <a:t>Slide Overview of 10</a:t>
            </a:r>
          </a:p>
        </p:txBody>
      </p:sp>
      <p:sp>
        <p:nvSpPr>
          <p:cNvPr id="9" name="Rounded Rectangle 8"/>
          <p:cNvSpPr/>
          <p:nvPr/>
        </p:nvSpPr>
        <p:spPr>
          <a:xfrm>
            <a:off x="731520" y="1325880"/>
            <a:ext cx="521208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1490472"/>
            <a:ext cx="822960" cy="27432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850" b="1">
                <a:solidFill>
                  <a:srgbClr val="E10600"/>
                </a:solidFill>
                <a:latin typeface="Segoe UI"/>
              </a:defRPr>
            </a:pPr>
            <a:r>
              <a:t>Slide 1</a:t>
            </a:r>
          </a:p>
        </p:txBody>
      </p:sp>
      <p:sp>
        <p:nvSpPr>
          <p:cNvPr id="11" name="TextBox 10"/>
          <p:cNvSpPr txBox="1"/>
          <p:nvPr/>
        </p:nvSpPr>
        <p:spPr>
          <a:xfrm>
            <a:off x="1783080" y="1435608"/>
            <a:ext cx="4023360" cy="685800"/>
          </a:xfrm>
          <a:prstGeom prst="rect">
            <a:avLst/>
          </a:prstGeom>
          <a:noFill/>
        </p:spPr>
        <p:txBody>
          <a:bodyPr wrap="square" lIns="0" tIns="0">
            <a:spAutoFit/>
          </a:bodyPr>
          <a:lstStyle/>
          <a:p>
            <a:pPr>
              <a:spcAft>
                <a:spcPts val="200"/>
              </a:spcAft>
              <a:defRPr sz="1050" b="1">
                <a:solidFill>
                  <a:srgbClr val="0F172A"/>
                </a:solidFill>
                <a:latin typeface="Segoe UI"/>
              </a:defRPr>
            </a:pPr>
            <a:r>
              <a:t>System Context (C4 Level 1)</a:t>
            </a:r>
          </a:p>
          <a:p>
            <a:pPr>
              <a:defRPr sz="850">
                <a:solidFill>
                  <a:srgbClr val="334155"/>
                </a:solidFill>
                <a:latin typeface="Segoe UI"/>
              </a:defRPr>
            </a:pPr>
            <a:r>
              <a:t>System boundary, community members, administrators, and external integrations (GIS, Jolpica, MailApp).</a:t>
            </a:r>
          </a:p>
        </p:txBody>
      </p:sp>
      <p:sp>
        <p:nvSpPr>
          <p:cNvPr id="12" name="Rounded Rectangle 11"/>
          <p:cNvSpPr/>
          <p:nvPr/>
        </p:nvSpPr>
        <p:spPr>
          <a:xfrm>
            <a:off x="731520" y="2304288"/>
            <a:ext cx="521208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2468880"/>
            <a:ext cx="822960" cy="27432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850" b="1">
                <a:solidFill>
                  <a:srgbClr val="E10600"/>
                </a:solidFill>
                <a:latin typeface="Segoe UI"/>
              </a:defRPr>
            </a:pPr>
            <a:r>
              <a:t>Slide 2</a:t>
            </a:r>
          </a:p>
        </p:txBody>
      </p:sp>
      <p:sp>
        <p:nvSpPr>
          <p:cNvPr id="14" name="TextBox 13"/>
          <p:cNvSpPr txBox="1"/>
          <p:nvPr/>
        </p:nvSpPr>
        <p:spPr>
          <a:xfrm>
            <a:off x="1783080" y="2414016"/>
            <a:ext cx="4023360" cy="685800"/>
          </a:xfrm>
          <a:prstGeom prst="rect">
            <a:avLst/>
          </a:prstGeom>
          <a:noFill/>
        </p:spPr>
        <p:txBody>
          <a:bodyPr wrap="square" lIns="0" tIns="0">
            <a:spAutoFit/>
          </a:bodyPr>
          <a:lstStyle/>
          <a:p>
            <a:pPr>
              <a:spcAft>
                <a:spcPts val="200"/>
              </a:spcAft>
              <a:defRPr sz="1050" b="1">
                <a:solidFill>
                  <a:srgbClr val="0F172A"/>
                </a:solidFill>
                <a:latin typeface="Segoe UI"/>
              </a:defRPr>
            </a:pPr>
            <a:r>
              <a:t>Container Architecture (C4 Level 2)</a:t>
            </a:r>
          </a:p>
          <a:p>
            <a:pPr>
              <a:defRPr sz="850">
                <a:solidFill>
                  <a:srgbClr val="334155"/>
                </a:solidFill>
                <a:latin typeface="Segoe UI"/>
              </a:defRPr>
            </a:pPr>
            <a:r>
              <a:t>Major executable units, static edge hosting, serverless GCP V8 backend, and persistent data stores.</a:t>
            </a:r>
          </a:p>
        </p:txBody>
      </p:sp>
      <p:sp>
        <p:nvSpPr>
          <p:cNvPr id="15" name="Rounded Rectangle 14"/>
          <p:cNvSpPr/>
          <p:nvPr/>
        </p:nvSpPr>
        <p:spPr>
          <a:xfrm>
            <a:off x="731520" y="3282696"/>
            <a:ext cx="521208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68680" y="3447288"/>
            <a:ext cx="822960" cy="27432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850" b="1">
                <a:solidFill>
                  <a:srgbClr val="E10600"/>
                </a:solidFill>
                <a:latin typeface="Segoe UI"/>
              </a:defRPr>
            </a:pPr>
            <a:r>
              <a:t>Slide 3</a:t>
            </a:r>
          </a:p>
        </p:txBody>
      </p:sp>
      <p:sp>
        <p:nvSpPr>
          <p:cNvPr id="17" name="TextBox 16"/>
          <p:cNvSpPr txBox="1"/>
          <p:nvPr/>
        </p:nvSpPr>
        <p:spPr>
          <a:xfrm>
            <a:off x="1783080" y="3392424"/>
            <a:ext cx="4023360" cy="685800"/>
          </a:xfrm>
          <a:prstGeom prst="rect">
            <a:avLst/>
          </a:prstGeom>
          <a:noFill/>
        </p:spPr>
        <p:txBody>
          <a:bodyPr wrap="square" lIns="0" tIns="0">
            <a:spAutoFit/>
          </a:bodyPr>
          <a:lstStyle/>
          <a:p>
            <a:pPr>
              <a:spcAft>
                <a:spcPts val="200"/>
              </a:spcAft>
              <a:defRPr sz="1050" b="1">
                <a:solidFill>
                  <a:srgbClr val="0F172A"/>
                </a:solidFill>
                <a:latin typeface="Segoe UI"/>
              </a:defRPr>
            </a:pPr>
            <a:r>
              <a:t>Frontend Component Architecture (C4 Level 3)</a:t>
            </a:r>
          </a:p>
          <a:p>
            <a:pPr>
              <a:defRPr sz="850">
                <a:solidFill>
                  <a:srgbClr val="334155"/>
                </a:solidFill>
                <a:latin typeface="Segoe UI"/>
              </a:defRPr>
            </a:pPr>
            <a:r>
              <a:t>React Router navigation, AuthContext/AppContext, modular feature UI, and API facade with cache/fallback.</a:t>
            </a:r>
          </a:p>
        </p:txBody>
      </p:sp>
      <p:sp>
        <p:nvSpPr>
          <p:cNvPr id="18" name="Rounded Rectangle 17"/>
          <p:cNvSpPr/>
          <p:nvPr/>
        </p:nvSpPr>
        <p:spPr>
          <a:xfrm>
            <a:off x="731520" y="4261104"/>
            <a:ext cx="521208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8680" y="4425696"/>
            <a:ext cx="822960" cy="27432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850" b="1">
                <a:solidFill>
                  <a:srgbClr val="E10600"/>
                </a:solidFill>
                <a:latin typeface="Segoe UI"/>
              </a:defRPr>
            </a:pPr>
            <a:r>
              <a:t>Slide 4</a:t>
            </a:r>
          </a:p>
        </p:txBody>
      </p:sp>
      <p:sp>
        <p:nvSpPr>
          <p:cNvPr id="20" name="TextBox 19"/>
          <p:cNvSpPr txBox="1"/>
          <p:nvPr/>
        </p:nvSpPr>
        <p:spPr>
          <a:xfrm>
            <a:off x="1783080" y="4370832"/>
            <a:ext cx="4023360" cy="685800"/>
          </a:xfrm>
          <a:prstGeom prst="rect">
            <a:avLst/>
          </a:prstGeom>
          <a:noFill/>
        </p:spPr>
        <p:txBody>
          <a:bodyPr wrap="square" lIns="0" tIns="0">
            <a:spAutoFit/>
          </a:bodyPr>
          <a:lstStyle/>
          <a:p>
            <a:pPr>
              <a:spcAft>
                <a:spcPts val="200"/>
              </a:spcAft>
              <a:defRPr sz="1050" b="1">
                <a:solidFill>
                  <a:srgbClr val="0F172A"/>
                </a:solidFill>
                <a:latin typeface="Segoe UI"/>
              </a:defRPr>
            </a:pPr>
            <a:r>
              <a:t>Backend Component Architecture (C4 Level 3)</a:t>
            </a:r>
          </a:p>
          <a:p>
            <a:pPr>
              <a:defRPr sz="850">
                <a:solidFill>
                  <a:srgbClr val="334155"/>
                </a:solidFill>
                <a:latin typeface="Segoe UI"/>
              </a:defRPr>
            </a:pPr>
            <a:r>
              <a:t>Apps Script doGet/doPost action dispatcher, domain services, LockService mutex, and spreadsheet persistence.</a:t>
            </a:r>
          </a:p>
        </p:txBody>
      </p:sp>
      <p:sp>
        <p:nvSpPr>
          <p:cNvPr id="21" name="Rounded Rectangle 20"/>
          <p:cNvSpPr/>
          <p:nvPr/>
        </p:nvSpPr>
        <p:spPr>
          <a:xfrm>
            <a:off x="731520" y="5239512"/>
            <a:ext cx="521208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68680" y="5404104"/>
            <a:ext cx="822960" cy="27432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850" b="1">
                <a:solidFill>
                  <a:srgbClr val="E10600"/>
                </a:solidFill>
                <a:latin typeface="Segoe UI"/>
              </a:defRPr>
            </a:pPr>
            <a:r>
              <a:t>Slide 5</a:t>
            </a:r>
          </a:p>
        </p:txBody>
      </p:sp>
      <p:sp>
        <p:nvSpPr>
          <p:cNvPr id="23" name="TextBox 22"/>
          <p:cNvSpPr txBox="1"/>
          <p:nvPr/>
        </p:nvSpPr>
        <p:spPr>
          <a:xfrm>
            <a:off x="1783080" y="5349240"/>
            <a:ext cx="4023360" cy="685800"/>
          </a:xfrm>
          <a:prstGeom prst="rect">
            <a:avLst/>
          </a:prstGeom>
          <a:noFill/>
        </p:spPr>
        <p:txBody>
          <a:bodyPr wrap="square" lIns="0" tIns="0">
            <a:spAutoFit/>
          </a:bodyPr>
          <a:lstStyle/>
          <a:p>
            <a:pPr>
              <a:spcAft>
                <a:spcPts val="200"/>
              </a:spcAft>
              <a:defRPr sz="1050" b="1">
                <a:solidFill>
                  <a:srgbClr val="0F172A"/>
                </a:solidFill>
                <a:latin typeface="Segoe UI"/>
              </a:defRPr>
            </a:pPr>
            <a:r>
              <a:t>Data Model &amp; Entity Relationships (ERD)</a:t>
            </a:r>
          </a:p>
          <a:p>
            <a:pPr>
              <a:defRPr sz="850">
                <a:solidFill>
                  <a:srgbClr val="334155"/>
                </a:solidFill>
                <a:latin typeface="Segoe UI"/>
              </a:defRPr>
            </a:pPr>
            <a:r>
              <a:t>15-worksheet relational abstraction, user identity mapping, prediction rounds, and scoring tables.</a:t>
            </a:r>
          </a:p>
        </p:txBody>
      </p:sp>
      <p:sp>
        <p:nvSpPr>
          <p:cNvPr id="24" name="Rounded Rectangle 23"/>
          <p:cNvSpPr/>
          <p:nvPr/>
        </p:nvSpPr>
        <p:spPr>
          <a:xfrm>
            <a:off x="6248095" y="1325880"/>
            <a:ext cx="521208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85255" y="1490472"/>
            <a:ext cx="822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850" b="1">
                <a:solidFill>
                  <a:srgbClr val="2563EB"/>
                </a:solidFill>
                <a:latin typeface="Segoe UI"/>
              </a:defRPr>
            </a:pPr>
            <a:r>
              <a:t>Slide 6</a:t>
            </a:r>
          </a:p>
        </p:txBody>
      </p:sp>
      <p:sp>
        <p:nvSpPr>
          <p:cNvPr id="26" name="TextBox 25"/>
          <p:cNvSpPr txBox="1"/>
          <p:nvPr/>
        </p:nvSpPr>
        <p:spPr>
          <a:xfrm>
            <a:off x="7299655" y="1435608"/>
            <a:ext cx="4023360" cy="685800"/>
          </a:xfrm>
          <a:prstGeom prst="rect">
            <a:avLst/>
          </a:prstGeom>
          <a:noFill/>
        </p:spPr>
        <p:txBody>
          <a:bodyPr wrap="square" lIns="0" tIns="0">
            <a:spAutoFit/>
          </a:bodyPr>
          <a:lstStyle/>
          <a:p>
            <a:pPr>
              <a:spcAft>
                <a:spcPts val="200"/>
              </a:spcAft>
              <a:defRPr sz="1050" b="1">
                <a:solidFill>
                  <a:srgbClr val="0F172A"/>
                </a:solidFill>
                <a:latin typeface="Segoe UI"/>
              </a:defRPr>
            </a:pPr>
            <a:r>
              <a:t>Prediction Lifecycle &amp; Scoring Engine</a:t>
            </a:r>
          </a:p>
          <a:p>
            <a:pPr>
              <a:defRPr sz="850">
                <a:solidFill>
                  <a:srgbClr val="334155"/>
                </a:solidFill>
                <a:latin typeface="Segoe UI"/>
              </a:defRPr>
            </a:pPr>
            <a:r>
              <a:t>End-to-end race round submission, server-side deadline checks, official result ingestion, and points calculation.</a:t>
            </a:r>
          </a:p>
        </p:txBody>
      </p:sp>
      <p:sp>
        <p:nvSpPr>
          <p:cNvPr id="27" name="Rounded Rectangle 26"/>
          <p:cNvSpPr/>
          <p:nvPr/>
        </p:nvSpPr>
        <p:spPr>
          <a:xfrm>
            <a:off x="6248095" y="2304288"/>
            <a:ext cx="521208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85255" y="2468880"/>
            <a:ext cx="822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850" b="1">
                <a:solidFill>
                  <a:srgbClr val="2563EB"/>
                </a:solidFill>
                <a:latin typeface="Segoe UI"/>
              </a:defRPr>
            </a:pPr>
            <a:r>
              <a:t>Slide 7</a:t>
            </a:r>
          </a:p>
        </p:txBody>
      </p:sp>
      <p:sp>
        <p:nvSpPr>
          <p:cNvPr id="29" name="TextBox 28"/>
          <p:cNvSpPr txBox="1"/>
          <p:nvPr/>
        </p:nvSpPr>
        <p:spPr>
          <a:xfrm>
            <a:off x="7299655" y="2414016"/>
            <a:ext cx="4023360" cy="685800"/>
          </a:xfrm>
          <a:prstGeom prst="rect">
            <a:avLst/>
          </a:prstGeom>
          <a:noFill/>
        </p:spPr>
        <p:txBody>
          <a:bodyPr wrap="square" lIns="0" tIns="0">
            <a:spAutoFit/>
          </a:bodyPr>
          <a:lstStyle/>
          <a:p>
            <a:pPr>
              <a:spcAft>
                <a:spcPts val="200"/>
              </a:spcAft>
              <a:defRPr sz="1050" b="1">
                <a:solidFill>
                  <a:srgbClr val="0F172A"/>
                </a:solidFill>
                <a:latin typeface="Segoe UI"/>
              </a:defRPr>
            </a:pPr>
            <a:r>
              <a:t>Authentication, Authorization &amp; Integrity</a:t>
            </a:r>
          </a:p>
          <a:p>
            <a:pPr>
              <a:defRPr sz="850">
                <a:solidFill>
                  <a:srgbClr val="334155"/>
                </a:solidFill>
                <a:latin typeface="Segoe UI"/>
              </a:defRPr>
            </a:pPr>
            <a:r>
              <a:t>Zero-trust Google GIS token verification, immutable Google 'sub' anchor, and server-side RBAC.</a:t>
            </a:r>
          </a:p>
        </p:txBody>
      </p:sp>
      <p:sp>
        <p:nvSpPr>
          <p:cNvPr id="30" name="Rounded Rectangle 29"/>
          <p:cNvSpPr/>
          <p:nvPr/>
        </p:nvSpPr>
        <p:spPr>
          <a:xfrm>
            <a:off x="6248095" y="3282696"/>
            <a:ext cx="521208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385255" y="3447288"/>
            <a:ext cx="822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850" b="1">
                <a:solidFill>
                  <a:srgbClr val="2563EB"/>
                </a:solidFill>
                <a:latin typeface="Segoe UI"/>
              </a:defRPr>
            </a:pPr>
            <a:r>
              <a:t>Slide 8</a:t>
            </a:r>
          </a:p>
        </p:txBody>
      </p:sp>
      <p:sp>
        <p:nvSpPr>
          <p:cNvPr id="32" name="TextBox 31"/>
          <p:cNvSpPr txBox="1"/>
          <p:nvPr/>
        </p:nvSpPr>
        <p:spPr>
          <a:xfrm>
            <a:off x="7299655" y="3392424"/>
            <a:ext cx="4023360" cy="685800"/>
          </a:xfrm>
          <a:prstGeom prst="rect">
            <a:avLst/>
          </a:prstGeom>
          <a:noFill/>
        </p:spPr>
        <p:txBody>
          <a:bodyPr wrap="square" lIns="0" tIns="0">
            <a:spAutoFit/>
          </a:bodyPr>
          <a:lstStyle/>
          <a:p>
            <a:pPr>
              <a:spcAft>
                <a:spcPts val="200"/>
              </a:spcAft>
              <a:defRPr sz="1050" b="1">
                <a:solidFill>
                  <a:srgbClr val="0F172A"/>
                </a:solidFill>
                <a:latin typeface="Segoe UI"/>
              </a:defRPr>
            </a:pPr>
            <a:r>
              <a:t>Asynchronous Notification Architecture</a:t>
            </a:r>
          </a:p>
          <a:p>
            <a:pPr>
              <a:defRPr sz="850">
                <a:solidFill>
                  <a:srgbClr val="334155"/>
                </a:solidFill>
                <a:latin typeface="Segoe UI"/>
              </a:defRPr>
            </a:pPr>
            <a:r>
              <a:t>Decoupled NotificationQueue, scheduled background triggers, LockService mutex, and MailApp delivery.</a:t>
            </a:r>
          </a:p>
        </p:txBody>
      </p:sp>
      <p:sp>
        <p:nvSpPr>
          <p:cNvPr id="33" name="Rounded Rectangle 32"/>
          <p:cNvSpPr/>
          <p:nvPr/>
        </p:nvSpPr>
        <p:spPr>
          <a:xfrm>
            <a:off x="6248095" y="4261104"/>
            <a:ext cx="521208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385255" y="4425696"/>
            <a:ext cx="822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850" b="1">
                <a:solidFill>
                  <a:srgbClr val="2563EB"/>
                </a:solidFill>
                <a:latin typeface="Segoe UI"/>
              </a:defRPr>
            </a:pPr>
            <a:r>
              <a:t>Slide 9</a:t>
            </a:r>
          </a:p>
        </p:txBody>
      </p:sp>
      <p:sp>
        <p:nvSpPr>
          <p:cNvPr id="35" name="TextBox 34"/>
          <p:cNvSpPr txBox="1"/>
          <p:nvPr/>
        </p:nvSpPr>
        <p:spPr>
          <a:xfrm>
            <a:off x="7299655" y="4370832"/>
            <a:ext cx="4023360" cy="685800"/>
          </a:xfrm>
          <a:prstGeom prst="rect">
            <a:avLst/>
          </a:prstGeom>
          <a:noFill/>
        </p:spPr>
        <p:txBody>
          <a:bodyPr wrap="square" lIns="0" tIns="0">
            <a:spAutoFit/>
          </a:bodyPr>
          <a:lstStyle/>
          <a:p>
            <a:pPr>
              <a:spcAft>
                <a:spcPts val="200"/>
              </a:spcAft>
              <a:defRPr sz="1050" b="1">
                <a:solidFill>
                  <a:srgbClr val="0F172A"/>
                </a:solidFill>
                <a:latin typeface="Segoe UI"/>
              </a:defRPr>
            </a:pPr>
            <a:r>
              <a:t>CI/CD, Hosting &amp; Deployment</a:t>
            </a:r>
          </a:p>
          <a:p>
            <a:pPr>
              <a:defRPr sz="850">
                <a:solidFill>
                  <a:srgbClr val="334155"/>
                </a:solidFill>
                <a:latin typeface="Segoe UI"/>
              </a:defRPr>
            </a:pPr>
            <a:r>
              <a:t>GitHub Actions build pipeline, dynamic circuit generation, Vite bundling, and independent Apps Script releases.</a:t>
            </a:r>
          </a:p>
        </p:txBody>
      </p:sp>
      <p:sp>
        <p:nvSpPr>
          <p:cNvPr id="36" name="Rounded Rectangle 35"/>
          <p:cNvSpPr/>
          <p:nvPr/>
        </p:nvSpPr>
        <p:spPr>
          <a:xfrm>
            <a:off x="6248095" y="5239512"/>
            <a:ext cx="521208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85255" y="5404104"/>
            <a:ext cx="822960" cy="2743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850" b="1">
                <a:solidFill>
                  <a:srgbClr val="2563EB"/>
                </a:solidFill>
                <a:latin typeface="Segoe UI"/>
              </a:defRPr>
            </a:pPr>
            <a:r>
              <a:t>Slide 10</a:t>
            </a:r>
          </a:p>
        </p:txBody>
      </p:sp>
      <p:sp>
        <p:nvSpPr>
          <p:cNvPr id="38" name="TextBox 37"/>
          <p:cNvSpPr txBox="1"/>
          <p:nvPr/>
        </p:nvSpPr>
        <p:spPr>
          <a:xfrm>
            <a:off x="7299655" y="5349240"/>
            <a:ext cx="4023360" cy="685800"/>
          </a:xfrm>
          <a:prstGeom prst="rect">
            <a:avLst/>
          </a:prstGeom>
          <a:noFill/>
        </p:spPr>
        <p:txBody>
          <a:bodyPr wrap="square" lIns="0" tIns="0">
            <a:spAutoFit/>
          </a:bodyPr>
          <a:lstStyle/>
          <a:p>
            <a:pPr>
              <a:spcAft>
                <a:spcPts val="200"/>
              </a:spcAft>
              <a:defRPr sz="1050" b="1">
                <a:solidFill>
                  <a:srgbClr val="0F172A"/>
                </a:solidFill>
                <a:latin typeface="Segoe UI"/>
              </a:defRPr>
            </a:pPr>
            <a:r>
              <a:t>Reliability, Quotas &amp; Trade-offs</a:t>
            </a:r>
          </a:p>
          <a:p>
            <a:pPr>
              <a:defRPr sz="850">
                <a:solidFill>
                  <a:srgbClr val="334155"/>
                </a:solidFill>
                <a:latin typeface="Segoe UI"/>
              </a:defRPr>
            </a:pPr>
            <a:r>
              <a:t>Apps Script quotas, execution timeouts, Google Sheets write contention, and production hardening.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868680"/>
          </a:xfrm>
          <a:prstGeom prst="rect">
            <a:avLst/>
          </a:prstGeom>
          <a:noFill/>
        </p:spPr>
        <p:txBody>
          <a:bodyPr wrap="square" lIns="0" tIns="0" rIns="0" bIns="0">
            <a:spAutoFit/>
          </a:bodyPr>
          <a:lstStyle/>
          <a:p>
            <a:pPr>
              <a:spcAft>
                <a:spcPts val="200"/>
              </a:spcAft>
              <a:defRPr sz="850" b="1">
                <a:solidFill>
                  <a:srgbClr val="E10600"/>
                </a:solidFill>
                <a:latin typeface="Segoe UI"/>
              </a:defRPr>
            </a:pPr>
            <a:r>
              <a:t>C4 ARCHITECTURE MODEL  |  LEVEL 1: CONTEXT</a:t>
            </a:r>
          </a:p>
          <a:p>
            <a:pPr>
              <a:spcAft>
                <a:spcPts val="200"/>
              </a:spcAft>
              <a:defRPr sz="2000" b="1">
                <a:solidFill>
                  <a:srgbClr val="0F172A"/>
                </a:solidFill>
                <a:latin typeface="Segoe UI"/>
              </a:defRPr>
            </a:pPr>
            <a:r>
              <a:t>Slide 1 — System Context (C4 Level 1)</a:t>
            </a:r>
          </a:p>
          <a:p>
            <a:pPr>
              <a:defRPr sz="1050">
                <a:solidFill>
                  <a:srgbClr val="475569"/>
                </a:solidFill>
                <a:latin typeface="Segoe UI"/>
              </a:defRPr>
            </a:pPr>
            <a:r>
              <a:t>Purpose: Establish the system boundary and show the people and external services interacting with THE GRDX.</a:t>
            </a:r>
          </a:p>
        </p:txBody>
      </p:sp>
      <p:sp>
        <p:nvSpPr>
          <p:cNvPr id="5" name="Rectangle 4"/>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10728655" cy="274320"/>
          </a:xfrm>
          <a:prstGeom prst="rect">
            <a:avLst/>
          </a:prstGeom>
          <a:noFill/>
        </p:spPr>
        <p:txBody>
          <a:bodyPr wrap="square" lIns="0" tIns="0" rIns="0" bIns="0">
            <a:spAutoFit/>
          </a:bodyPr>
          <a:lstStyle/>
          <a:p>
            <a:pPr>
              <a:defRPr sz="850">
                <a:solidFill>
                  <a:srgbClr val="94A3B8"/>
                </a:solidFill>
                <a:latin typeface="Segoe UI"/>
              </a:defRPr>
            </a:pPr>
            <a:r>
              <a:t>THE GRDX — Motorsport Prediction &amp; Community Platform  |  Technical Architecture Specification</a:t>
            </a:r>
          </a:p>
        </p:txBody>
      </p:sp>
      <p:sp>
        <p:nvSpPr>
          <p:cNvPr id="8" name="TextBox 7"/>
          <p:cNvSpPr txBox="1"/>
          <p:nvPr/>
        </p:nvSpPr>
        <p:spPr>
          <a:xfrm>
            <a:off x="9601200" y="6510528"/>
            <a:ext cx="1828800" cy="274320"/>
          </a:xfrm>
          <a:prstGeom prst="rect">
            <a:avLst/>
          </a:prstGeom>
          <a:noFill/>
        </p:spPr>
        <p:txBody>
          <a:bodyPr wrap="none" lIns="0" tIns="0" rIns="0" bIns="0">
            <a:spAutoFit/>
          </a:bodyPr>
          <a:lstStyle/>
          <a:p>
            <a:pPr algn="r">
              <a:defRPr sz="850" b="1">
                <a:solidFill>
                  <a:srgbClr val="475569"/>
                </a:solidFill>
                <a:latin typeface="Segoe UI"/>
              </a:defRPr>
            </a:pPr>
            <a:r>
              <a:t>Slide 1 of 10</a:t>
            </a:r>
          </a:p>
        </p:txBody>
      </p:sp>
      <p:sp>
        <p:nvSpPr>
          <p:cNvPr id="9" name="Rounded Rectangle 8"/>
          <p:cNvSpPr/>
          <p:nvPr/>
        </p:nvSpPr>
        <p:spPr>
          <a:xfrm>
            <a:off x="731520" y="1280160"/>
            <a:ext cx="676656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89888"/>
            <a:ext cx="6437376" cy="274320"/>
          </a:xfrm>
          <a:prstGeom prst="rect">
            <a:avLst/>
          </a:prstGeom>
          <a:noFill/>
        </p:spPr>
        <p:txBody>
          <a:bodyPr wrap="square" lIns="0" tIns="0" rIns="0" bIns="0">
            <a:spAutoFit/>
          </a:bodyPr>
          <a:lstStyle/>
          <a:p>
            <a:pPr>
              <a:defRPr sz="950" b="1">
                <a:solidFill>
                  <a:srgbClr val="0F172A"/>
                </a:solidFill>
                <a:latin typeface="Segoe UI"/>
              </a:defRPr>
            </a:pPr>
            <a:r>
              <a:t>SYSTEM CONTEXT TOPOLOGY DIAGRAM</a:t>
            </a:r>
          </a:p>
        </p:txBody>
      </p:sp>
      <p:pic>
        <p:nvPicPr>
          <p:cNvPr id="11" name="Picture 10" descr="slide_1_system_context.png"/>
          <p:cNvPicPr>
            <a:picLocks noChangeAspect="1"/>
          </p:cNvPicPr>
          <p:nvPr/>
        </p:nvPicPr>
        <p:blipFill>
          <a:blip r:embed="rId2"/>
          <a:stretch>
            <a:fillRect/>
          </a:stretch>
        </p:blipFill>
        <p:spPr>
          <a:xfrm>
            <a:off x="868680" y="2893442"/>
            <a:ext cx="6492240" cy="1985514"/>
          </a:xfrm>
          <a:prstGeom prst="rect">
            <a:avLst/>
          </a:prstGeom>
        </p:spPr>
      </p:pic>
      <p:sp>
        <p:nvSpPr>
          <p:cNvPr id="12" name="Rounded Rectangle 11"/>
          <p:cNvSpPr/>
          <p:nvPr/>
        </p:nvSpPr>
        <p:spPr>
          <a:xfrm>
            <a:off x="7680960" y="1280160"/>
            <a:ext cx="3779215" cy="3383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45552" y="1389888"/>
            <a:ext cx="3450031" cy="274320"/>
          </a:xfrm>
          <a:prstGeom prst="rect">
            <a:avLst/>
          </a:prstGeom>
          <a:noFill/>
        </p:spPr>
        <p:txBody>
          <a:bodyPr wrap="square" lIns="0" tIns="0" rIns="0" bIns="0">
            <a:spAutoFit/>
          </a:bodyPr>
          <a:lstStyle/>
          <a:p>
            <a:pPr>
              <a:defRPr sz="950" b="1">
                <a:solidFill>
                  <a:srgbClr val="0F172A"/>
                </a:solidFill>
                <a:latin typeface="Segoe UI"/>
              </a:defRPr>
            </a:pPr>
            <a:r>
              <a:t>PLATFORM BOUNDARY &amp; CAPABILITIES</a:t>
            </a:r>
          </a:p>
        </p:txBody>
      </p:sp>
      <p:sp>
        <p:nvSpPr>
          <p:cNvPr id="14" name="TextBox 13"/>
          <p:cNvSpPr txBox="1"/>
          <p:nvPr/>
        </p:nvSpPr>
        <p:spPr>
          <a:xfrm>
            <a:off x="7818120" y="1691640"/>
            <a:ext cx="3504895" cy="2834640"/>
          </a:xfrm>
          <a:prstGeom prst="rect">
            <a:avLst/>
          </a:prstGeom>
          <a:noFill/>
        </p:spPr>
        <p:txBody>
          <a:bodyPr wrap="square" lIns="0" tIns="0">
            <a:spAutoFit/>
          </a:bodyPr>
          <a:lstStyle/>
          <a:p>
            <a:pPr>
              <a:spcAft>
                <a:spcPts val="600"/>
              </a:spcAft>
              <a:defRPr sz="950" b="1">
                <a:solidFill>
                  <a:srgbClr val="0F172A"/>
                </a:solidFill>
                <a:latin typeface="Segoe UI"/>
              </a:defRPr>
            </a:pPr>
            <a:r>
              <a:t>• Race-Weekend Predictions: </a:t>
            </a:r>
            <a:r>
              <a:rPr b="0">
                <a:solidFill>
                  <a:srgbClr val="334155"/>
                </a:solidFill>
              </a:rPr>
              <a:t>Session-specific prediction rounds (Practice, Quali, Sprint, GP).</a:t>
            </a:r>
          </a:p>
          <a:p>
            <a:pPr>
              <a:spcAft>
                <a:spcPts val="600"/>
              </a:spcAft>
              <a:defRPr sz="950" b="1">
                <a:solidFill>
                  <a:srgbClr val="0F172A"/>
                </a:solidFill>
                <a:latin typeface="Segoe UI"/>
              </a:defRPr>
            </a:pPr>
            <a:r>
              <a:t>• Automated Scoring &amp; Boards: </a:t>
            </a:r>
            <a:r>
              <a:rPr b="0">
                <a:solidFill>
                  <a:srgbClr val="334155"/>
                </a:solidFill>
              </a:rPr>
              <a:t>Rule-based point tallies, live leaderboard calculations, and driver stats.</a:t>
            </a:r>
          </a:p>
          <a:p>
            <a:pPr>
              <a:spcAft>
                <a:spcPts val="600"/>
              </a:spcAft>
              <a:defRPr sz="950" b="1">
                <a:solidFill>
                  <a:srgbClr val="0F172A"/>
                </a:solidFill>
                <a:latin typeface="Segoe UI"/>
              </a:defRPr>
            </a:pPr>
            <a:r>
              <a:t>• Motorsport Quizzes &amp; Content: </a:t>
            </a:r>
            <a:r>
              <a:rPr b="0">
                <a:solidFill>
                  <a:srgbClr val="334155"/>
                </a:solidFill>
              </a:rPr>
              <a:t>Gamified trivia engine, tiered difficulty categories, and learning badges.</a:t>
            </a:r>
          </a:p>
          <a:p>
            <a:pPr>
              <a:spcAft>
                <a:spcPts val="600"/>
              </a:spcAft>
              <a:defRPr sz="950" b="1">
                <a:solidFill>
                  <a:srgbClr val="0F172A"/>
                </a:solidFill>
                <a:latin typeface="Segoe UI"/>
              </a:defRPr>
            </a:pPr>
            <a:r>
              <a:t>• User Profiles &amp; Security: </a:t>
            </a:r>
            <a:r>
              <a:rPr b="0">
                <a:solidFill>
                  <a:srgbClr val="334155"/>
                </a:solidFill>
              </a:rPr>
              <a:t>Cryptographic Google OAuth identity, avatar customization, and settings.</a:t>
            </a:r>
          </a:p>
          <a:p>
            <a:pPr>
              <a:spcAft>
                <a:spcPts val="600"/>
              </a:spcAft>
              <a:defRPr sz="950" b="1">
                <a:solidFill>
                  <a:srgbClr val="0F172A"/>
                </a:solidFill>
                <a:latin typeface="Segoe UI"/>
              </a:defRPr>
            </a:pPr>
            <a:r>
              <a:t>• External Cloud Services: </a:t>
            </a:r>
            <a:r>
              <a:rPr b="0">
                <a:solidFill>
                  <a:srgbClr val="334155"/>
                </a:solidFill>
              </a:rPr>
              <a:t>Google Identity Services (Auth), Jolpica F1 API (Data), Google MailApp (Email).</a:t>
            </a:r>
          </a:p>
        </p:txBody>
      </p:sp>
      <p:sp>
        <p:nvSpPr>
          <p:cNvPr id="15" name="Rounded Rectangle 14"/>
          <p:cNvSpPr/>
          <p:nvPr/>
        </p:nvSpPr>
        <p:spPr>
          <a:xfrm>
            <a:off x="7680960" y="4800600"/>
            <a:ext cx="3779215" cy="1417320"/>
          </a:xfrm>
          <a:prstGeom prst="roundRect">
            <a:avLst/>
          </a:prstGeom>
          <a:solidFill>
            <a:srgbClr val="FFFBE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27264" y="4910328"/>
            <a:ext cx="3486607" cy="1197864"/>
          </a:xfrm>
          <a:prstGeom prst="rect">
            <a:avLst/>
          </a:prstGeom>
          <a:noFill/>
        </p:spPr>
        <p:txBody>
          <a:bodyPr wrap="square" lIns="0" tIns="0" rIns="0" bIns="0">
            <a:spAutoFit/>
          </a:bodyPr>
          <a:lstStyle/>
          <a:p>
            <a:pPr>
              <a:spcAft>
                <a:spcPts val="300"/>
              </a:spcAft>
              <a:defRPr sz="850" b="1">
                <a:solidFill>
                  <a:srgbClr val="78350F"/>
                </a:solidFill>
                <a:latin typeface="Segoe UI"/>
              </a:defRPr>
            </a:pPr>
            <a:r>
              <a:t>⚠️  VALIDATION CHECKPOINT</a:t>
            </a:r>
          </a:p>
          <a:p>
            <a:pPr>
              <a:defRPr sz="850">
                <a:solidFill>
                  <a:srgbClr val="78350F"/>
                </a:solidFill>
                <a:latin typeface="Segoe UI"/>
              </a:defRPr>
            </a:pPr>
            <a:r>
              <a:t>The repository documents these integrations, but confirm that each is enabled and actively used in the current production deployment before describing it as a live dependency.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868680"/>
          </a:xfrm>
          <a:prstGeom prst="rect">
            <a:avLst/>
          </a:prstGeom>
          <a:noFill/>
        </p:spPr>
        <p:txBody>
          <a:bodyPr wrap="square" lIns="0" tIns="0" rIns="0" bIns="0">
            <a:spAutoFit/>
          </a:bodyPr>
          <a:lstStyle/>
          <a:p>
            <a:pPr>
              <a:spcAft>
                <a:spcPts val="200"/>
              </a:spcAft>
              <a:defRPr sz="850" b="1">
                <a:solidFill>
                  <a:srgbClr val="E10600"/>
                </a:solidFill>
                <a:latin typeface="Segoe UI"/>
              </a:defRPr>
            </a:pPr>
            <a:r>
              <a:t>C4 ARCHITECTURE MODEL  |  LEVEL 2: CONTAINERS</a:t>
            </a:r>
          </a:p>
          <a:p>
            <a:pPr>
              <a:spcAft>
                <a:spcPts val="200"/>
              </a:spcAft>
              <a:defRPr sz="2000" b="1">
                <a:solidFill>
                  <a:srgbClr val="0F172A"/>
                </a:solidFill>
                <a:latin typeface="Segoe UI"/>
              </a:defRPr>
            </a:pPr>
            <a:r>
              <a:t>Slide 2 — Container Architecture (C4 Level 2)</a:t>
            </a:r>
          </a:p>
          <a:p>
            <a:pPr>
              <a:defRPr sz="1050">
                <a:solidFill>
                  <a:srgbClr val="475569"/>
                </a:solidFill>
                <a:latin typeface="Segoe UI"/>
              </a:defRPr>
            </a:pPr>
            <a:r>
              <a:t>Purpose: Show the major executable units, hosting locations, and data stores.</a:t>
            </a:r>
          </a:p>
        </p:txBody>
      </p:sp>
      <p:sp>
        <p:nvSpPr>
          <p:cNvPr id="5" name="Rectangle 4"/>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10728655" cy="274320"/>
          </a:xfrm>
          <a:prstGeom prst="rect">
            <a:avLst/>
          </a:prstGeom>
          <a:noFill/>
        </p:spPr>
        <p:txBody>
          <a:bodyPr wrap="square" lIns="0" tIns="0" rIns="0" bIns="0">
            <a:spAutoFit/>
          </a:bodyPr>
          <a:lstStyle/>
          <a:p>
            <a:pPr>
              <a:defRPr sz="850">
                <a:solidFill>
                  <a:srgbClr val="94A3B8"/>
                </a:solidFill>
                <a:latin typeface="Segoe UI"/>
              </a:defRPr>
            </a:pPr>
            <a:r>
              <a:t>THE GRDX — Motorsport Prediction &amp; Community Platform  |  Technical Architecture Specification</a:t>
            </a:r>
          </a:p>
        </p:txBody>
      </p:sp>
      <p:sp>
        <p:nvSpPr>
          <p:cNvPr id="8" name="TextBox 7"/>
          <p:cNvSpPr txBox="1"/>
          <p:nvPr/>
        </p:nvSpPr>
        <p:spPr>
          <a:xfrm>
            <a:off x="9601200" y="6510528"/>
            <a:ext cx="1828800" cy="274320"/>
          </a:xfrm>
          <a:prstGeom prst="rect">
            <a:avLst/>
          </a:prstGeom>
          <a:noFill/>
        </p:spPr>
        <p:txBody>
          <a:bodyPr wrap="none" lIns="0" tIns="0" rIns="0" bIns="0">
            <a:spAutoFit/>
          </a:bodyPr>
          <a:lstStyle/>
          <a:p>
            <a:pPr algn="r">
              <a:defRPr sz="850" b="1">
                <a:solidFill>
                  <a:srgbClr val="475569"/>
                </a:solidFill>
                <a:latin typeface="Segoe UI"/>
              </a:defRPr>
            </a:pPr>
            <a:r>
              <a:t>Slide 2 of 10</a:t>
            </a:r>
          </a:p>
        </p:txBody>
      </p:sp>
      <p:sp>
        <p:nvSpPr>
          <p:cNvPr id="9" name="Rounded Rectangle 8"/>
          <p:cNvSpPr/>
          <p:nvPr/>
        </p:nvSpPr>
        <p:spPr>
          <a:xfrm>
            <a:off x="731520" y="1280160"/>
            <a:ext cx="530352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89888"/>
            <a:ext cx="4974336" cy="274320"/>
          </a:xfrm>
          <a:prstGeom prst="rect">
            <a:avLst/>
          </a:prstGeom>
          <a:noFill/>
        </p:spPr>
        <p:txBody>
          <a:bodyPr wrap="square" lIns="0" tIns="0" rIns="0" bIns="0">
            <a:spAutoFit/>
          </a:bodyPr>
          <a:lstStyle/>
          <a:p>
            <a:pPr>
              <a:defRPr sz="950" b="1">
                <a:solidFill>
                  <a:srgbClr val="0F172A"/>
                </a:solidFill>
                <a:latin typeface="Segoe UI"/>
              </a:defRPr>
            </a:pPr>
            <a:r>
              <a:t>CONTAINER &amp; RUNTIME TOPOLOGY</a:t>
            </a:r>
          </a:p>
        </p:txBody>
      </p:sp>
      <p:pic>
        <p:nvPicPr>
          <p:cNvPr id="11" name="Picture 10" descr="slide_2_container_architecture.png"/>
          <p:cNvPicPr>
            <a:picLocks noChangeAspect="1"/>
          </p:cNvPicPr>
          <p:nvPr/>
        </p:nvPicPr>
        <p:blipFill>
          <a:blip r:embed="rId2"/>
          <a:stretch>
            <a:fillRect/>
          </a:stretch>
        </p:blipFill>
        <p:spPr>
          <a:xfrm>
            <a:off x="868680" y="2153009"/>
            <a:ext cx="5029200" cy="3466381"/>
          </a:xfrm>
          <a:prstGeom prst="rect">
            <a:avLst/>
          </a:prstGeom>
        </p:spPr>
      </p:pic>
      <p:sp>
        <p:nvSpPr>
          <p:cNvPr id="12" name="Rounded Rectangle 11"/>
          <p:cNvSpPr/>
          <p:nvPr/>
        </p:nvSpPr>
        <p:spPr>
          <a:xfrm>
            <a:off x="6217920" y="1280160"/>
            <a:ext cx="5242255" cy="3520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389888"/>
            <a:ext cx="4913071" cy="274320"/>
          </a:xfrm>
          <a:prstGeom prst="rect">
            <a:avLst/>
          </a:prstGeom>
          <a:noFill/>
        </p:spPr>
        <p:txBody>
          <a:bodyPr wrap="square" lIns="0" tIns="0" rIns="0" bIns="0">
            <a:spAutoFit/>
          </a:bodyPr>
          <a:lstStyle/>
          <a:p>
            <a:pPr>
              <a:defRPr sz="950" b="1">
                <a:solidFill>
                  <a:srgbClr val="0F172A"/>
                </a:solidFill>
                <a:latin typeface="Segoe UI"/>
              </a:defRPr>
            </a:pPr>
            <a:r>
              <a:t>CONTAINER TECHNOLOGY SUMMARY</a:t>
            </a:r>
          </a:p>
        </p:txBody>
      </p:sp>
      <p:graphicFrame>
        <p:nvGraphicFramePr>
          <p:cNvPr id="14" name="Table 13"/>
          <p:cNvGraphicFramePr>
            <a:graphicFrameLocks noGrp="1"/>
          </p:cNvGraphicFramePr>
          <p:nvPr/>
        </p:nvGraphicFramePr>
        <p:xfrm>
          <a:off x="6355080" y="1645920"/>
          <a:ext cx="4967935" cy="3017520"/>
        </p:xfrm>
        <a:graphic>
          <a:graphicData uri="http://schemas.openxmlformats.org/drawingml/2006/table">
            <a:tbl>
              <a:tblPr firstRow="1" bandRow="1">
                <a:tableStyleId>{5C22544A-7EE6-4342-B048-85BDC9FD1C3A}</a:tableStyleId>
              </a:tblPr>
              <a:tblGrid>
                <a:gridCol w="1188720"/>
                <a:gridCol w="1554480"/>
                <a:gridCol w="2224735"/>
              </a:tblGrid>
              <a:tr h="431074">
                <a:tc>
                  <a:txBody>
                    <a:bodyPr/>
                    <a:lstStyle/>
                    <a:p>
                      <a:pPr>
                        <a:defRPr sz="850" b="1">
                          <a:solidFill>
                            <a:srgbClr val="FFFFFF"/>
                          </a:solidFill>
                          <a:latin typeface="Segoe UI"/>
                        </a:defRPr>
                      </a:pPr>
                      <a:r>
                        <a:t>Container</a:t>
                      </a:r>
                    </a:p>
                  </a:txBody>
                  <a:tcPr>
                    <a:solidFill>
                      <a:srgbClr val="1E293B"/>
                    </a:solidFill>
                  </a:tcPr>
                </a:tc>
                <a:tc>
                  <a:txBody>
                    <a:bodyPr/>
                    <a:lstStyle/>
                    <a:p>
                      <a:pPr>
                        <a:defRPr sz="850" b="1">
                          <a:solidFill>
                            <a:srgbClr val="FFFFFF"/>
                          </a:solidFill>
                          <a:latin typeface="Segoe UI"/>
                        </a:defRPr>
                      </a:pPr>
                      <a:r>
                        <a:t>Technology</a:t>
                      </a:r>
                    </a:p>
                  </a:txBody>
                  <a:tcPr>
                    <a:solidFill>
                      <a:srgbClr val="1E293B"/>
                    </a:solidFill>
                  </a:tcPr>
                </a:tc>
                <a:tc>
                  <a:txBody>
                    <a:bodyPr/>
                    <a:lstStyle/>
                    <a:p>
                      <a:pPr>
                        <a:defRPr sz="850" b="1">
                          <a:solidFill>
                            <a:srgbClr val="FFFFFF"/>
                          </a:solidFill>
                          <a:latin typeface="Segoe UI"/>
                        </a:defRPr>
                      </a:pPr>
                      <a:r>
                        <a:t>Responsibility</a:t>
                      </a:r>
                    </a:p>
                  </a:txBody>
                  <a:tcPr>
                    <a:solidFill>
                      <a:srgbClr val="1E293B"/>
                    </a:solidFill>
                  </a:tcPr>
                </a:tc>
              </a:tr>
              <a:tr h="431074">
                <a:tc>
                  <a:txBody>
                    <a:bodyPr/>
                    <a:lstStyle/>
                    <a:p>
                      <a:pPr>
                        <a:defRPr sz="800" b="1">
                          <a:solidFill>
                            <a:srgbClr val="0F172A"/>
                          </a:solidFill>
                          <a:latin typeface="Segoe UI"/>
                        </a:defRPr>
                      </a:pPr>
                      <a:r>
                        <a:t>Frontend</a:t>
                      </a:r>
                    </a:p>
                  </a:txBody>
                  <a:tcPr>
                    <a:solidFill>
                      <a:srgbClr val="FFFFFF"/>
                    </a:solidFill>
                  </a:tcPr>
                </a:tc>
                <a:tc>
                  <a:txBody>
                    <a:bodyPr/>
                    <a:lstStyle/>
                    <a:p>
                      <a:pPr>
                        <a:defRPr sz="800" b="0">
                          <a:solidFill>
                            <a:srgbClr val="334155"/>
                          </a:solidFill>
                          <a:latin typeface="Segoe UI"/>
                        </a:defRPr>
                      </a:pPr>
                      <a:r>
                        <a:t>React 19, TypeScript, Vite</a:t>
                      </a:r>
                    </a:p>
                  </a:txBody>
                  <a:tcPr>
                    <a:solidFill>
                      <a:srgbClr val="FFFFFF"/>
                    </a:solidFill>
                  </a:tcPr>
                </a:tc>
                <a:tc>
                  <a:txBody>
                    <a:bodyPr/>
                    <a:lstStyle/>
                    <a:p>
                      <a:pPr>
                        <a:defRPr sz="800" b="0">
                          <a:solidFill>
                            <a:srgbClr val="334155"/>
                          </a:solidFill>
                          <a:latin typeface="Segoe UI"/>
                        </a:defRPr>
                      </a:pPr>
                      <a:r>
                        <a:t>UI, navigation, client cache, and user interactions.</a:t>
                      </a:r>
                    </a:p>
                  </a:txBody>
                  <a:tcPr>
                    <a:solidFill>
                      <a:srgbClr val="FFFFFF"/>
                    </a:solidFill>
                  </a:tcPr>
                </a:tc>
              </a:tr>
              <a:tr h="431074">
                <a:tc>
                  <a:txBody>
                    <a:bodyPr/>
                    <a:lstStyle/>
                    <a:p>
                      <a:pPr>
                        <a:defRPr sz="800" b="1">
                          <a:solidFill>
                            <a:srgbClr val="0F172A"/>
                          </a:solidFill>
                          <a:latin typeface="Segoe UI"/>
                        </a:defRPr>
                      </a:pPr>
                      <a:r>
                        <a:t>Backend</a:t>
                      </a:r>
                    </a:p>
                  </a:txBody>
                  <a:tcPr>
                    <a:solidFill>
                      <a:srgbClr val="F8FAFC"/>
                    </a:solidFill>
                  </a:tcPr>
                </a:tc>
                <a:tc>
                  <a:txBody>
                    <a:bodyPr/>
                    <a:lstStyle/>
                    <a:p>
                      <a:pPr>
                        <a:defRPr sz="800" b="0">
                          <a:solidFill>
                            <a:srgbClr val="334155"/>
                          </a:solidFill>
                          <a:latin typeface="Segoe UI"/>
                        </a:defRPr>
                      </a:pPr>
                      <a:r>
                        <a:t>Google Apps Script V8</a:t>
                      </a:r>
                    </a:p>
                  </a:txBody>
                  <a:tcPr>
                    <a:solidFill>
                      <a:srgbClr val="F8FAFC"/>
                    </a:solidFill>
                  </a:tcPr>
                </a:tc>
                <a:tc>
                  <a:txBody>
                    <a:bodyPr/>
                    <a:lstStyle/>
                    <a:p>
                      <a:pPr>
                        <a:defRPr sz="800" b="0">
                          <a:solidFill>
                            <a:srgbClr val="334155"/>
                          </a:solidFill>
                          <a:latin typeface="Segoe UI"/>
                        </a:defRPr>
                      </a:pPr>
                      <a:r>
                        <a:t>doGet/doPost API gateway and application business logic.</a:t>
                      </a:r>
                    </a:p>
                  </a:txBody>
                  <a:tcPr>
                    <a:solidFill>
                      <a:srgbClr val="F8FAFC"/>
                    </a:solidFill>
                  </a:tcPr>
                </a:tc>
              </a:tr>
              <a:tr h="431074">
                <a:tc>
                  <a:txBody>
                    <a:bodyPr/>
                    <a:lstStyle/>
                    <a:p>
                      <a:pPr>
                        <a:defRPr sz="800" b="1">
                          <a:solidFill>
                            <a:srgbClr val="0F172A"/>
                          </a:solidFill>
                          <a:latin typeface="Segoe UI"/>
                        </a:defRPr>
                      </a:pPr>
                      <a:r>
                        <a:t>Persistent Store</a:t>
                      </a:r>
                    </a:p>
                  </a:txBody>
                  <a:tcPr>
                    <a:solidFill>
                      <a:srgbClr val="FFFFFF"/>
                    </a:solidFill>
                  </a:tcPr>
                </a:tc>
                <a:tc>
                  <a:txBody>
                    <a:bodyPr/>
                    <a:lstStyle/>
                    <a:p>
                      <a:pPr>
                        <a:defRPr sz="800" b="0">
                          <a:solidFill>
                            <a:srgbClr val="334155"/>
                          </a:solidFill>
                          <a:latin typeface="Segoe UI"/>
                        </a:defRPr>
                      </a:pPr>
                      <a:r>
                        <a:t>Google Sheets (15 Worksheets)</a:t>
                      </a:r>
                    </a:p>
                  </a:txBody>
                  <a:tcPr>
                    <a:solidFill>
                      <a:srgbClr val="FFFFFF"/>
                    </a:solidFill>
                  </a:tcPr>
                </a:tc>
                <a:tc>
                  <a:txBody>
                    <a:bodyPr/>
                    <a:lstStyle/>
                    <a:p>
                      <a:pPr>
                        <a:defRPr sz="800" b="0">
                          <a:solidFill>
                            <a:srgbClr val="334155"/>
                          </a:solidFill>
                          <a:latin typeface="Segoe UI"/>
                        </a:defRPr>
                      </a:pPr>
                      <a:r>
                        <a:t>Structured application records and versioned database.</a:t>
                      </a:r>
                    </a:p>
                  </a:txBody>
                  <a:tcPr>
                    <a:solidFill>
                      <a:srgbClr val="FFFFFF"/>
                    </a:solidFill>
                  </a:tcPr>
                </a:tc>
              </a:tr>
              <a:tr h="431074">
                <a:tc>
                  <a:txBody>
                    <a:bodyPr/>
                    <a:lstStyle/>
                    <a:p>
                      <a:pPr>
                        <a:defRPr sz="800" b="1">
                          <a:solidFill>
                            <a:srgbClr val="0F172A"/>
                          </a:solidFill>
                          <a:latin typeface="Segoe UI"/>
                        </a:defRPr>
                      </a:pPr>
                      <a:r>
                        <a:t>Browser Storage</a:t>
                      </a:r>
                    </a:p>
                  </a:txBody>
                  <a:tcPr>
                    <a:solidFill>
                      <a:srgbClr val="F8FAFC"/>
                    </a:solidFill>
                  </a:tcPr>
                </a:tc>
                <a:tc>
                  <a:txBody>
                    <a:bodyPr/>
                    <a:lstStyle/>
                    <a:p>
                      <a:pPr>
                        <a:defRPr sz="800" b="0">
                          <a:solidFill>
                            <a:srgbClr val="334155"/>
                          </a:solidFill>
                          <a:latin typeface="Segoe UI"/>
                        </a:defRPr>
                      </a:pPr>
                      <a:r>
                        <a:t>LocalStorage</a:t>
                      </a:r>
                    </a:p>
                  </a:txBody>
                  <a:tcPr>
                    <a:solidFill>
                      <a:srgbClr val="F8FAFC"/>
                    </a:solidFill>
                  </a:tcPr>
                </a:tc>
                <a:tc>
                  <a:txBody>
                    <a:bodyPr/>
                    <a:lstStyle/>
                    <a:p>
                      <a:pPr>
                        <a:defRPr sz="800" b="0">
                          <a:solidFill>
                            <a:srgbClr val="334155"/>
                          </a:solidFill>
                          <a:latin typeface="Segoe UI"/>
                        </a:defRPr>
                      </a:pPr>
                      <a:r>
                        <a:t>Client-side persistence, session tokens, and cached state.</a:t>
                      </a:r>
                    </a:p>
                  </a:txBody>
                  <a:tcPr>
                    <a:solidFill>
                      <a:srgbClr val="F8FAFC"/>
                    </a:solidFill>
                  </a:tcPr>
                </a:tc>
              </a:tr>
              <a:tr h="431074">
                <a:tc>
                  <a:txBody>
                    <a:bodyPr/>
                    <a:lstStyle/>
                    <a:p>
                      <a:pPr>
                        <a:defRPr sz="800" b="1">
                          <a:solidFill>
                            <a:srgbClr val="0F172A"/>
                          </a:solidFill>
                          <a:latin typeface="Segoe UI"/>
                        </a:defRPr>
                      </a:pPr>
                      <a:r>
                        <a:t>Backend Cache</a:t>
                      </a:r>
                    </a:p>
                  </a:txBody>
                  <a:tcPr>
                    <a:solidFill>
                      <a:srgbClr val="FFFFFF"/>
                    </a:solidFill>
                  </a:tcPr>
                </a:tc>
                <a:tc>
                  <a:txBody>
                    <a:bodyPr/>
                    <a:lstStyle/>
                    <a:p>
                      <a:pPr>
                        <a:defRPr sz="800" b="0">
                          <a:solidFill>
                            <a:srgbClr val="334155"/>
                          </a:solidFill>
                          <a:latin typeface="Segoe UI"/>
                        </a:defRPr>
                      </a:pPr>
                      <a:r>
                        <a:t>CacheService (In-Memory RAM)</a:t>
                      </a:r>
                    </a:p>
                  </a:txBody>
                  <a:tcPr>
                    <a:solidFill>
                      <a:srgbClr val="FFFFFF"/>
                    </a:solidFill>
                  </a:tcPr>
                </a:tc>
                <a:tc>
                  <a:txBody>
                    <a:bodyPr/>
                    <a:lstStyle/>
                    <a:p>
                      <a:pPr>
                        <a:defRPr sz="800" b="0">
                          <a:solidFill>
                            <a:srgbClr val="334155"/>
                          </a:solidFill>
                          <a:latin typeface="Segoe UI"/>
                        </a:defRPr>
                      </a:pPr>
                      <a:r>
                        <a:t>Temporary cached calendar responses and speedups.</a:t>
                      </a:r>
                    </a:p>
                  </a:txBody>
                  <a:tcPr>
                    <a:solidFill>
                      <a:srgbClr val="FFFFFF"/>
                    </a:solidFill>
                  </a:tcPr>
                </a:tc>
              </a:tr>
              <a:tr h="431076">
                <a:tc>
                  <a:txBody>
                    <a:bodyPr/>
                    <a:lstStyle/>
                    <a:p>
                      <a:pPr>
                        <a:defRPr sz="800" b="1">
                          <a:solidFill>
                            <a:srgbClr val="0F172A"/>
                          </a:solidFill>
                          <a:latin typeface="Segoe UI"/>
                        </a:defRPr>
                      </a:pPr>
                      <a:r>
                        <a:t>External Services</a:t>
                      </a:r>
                    </a:p>
                  </a:txBody>
                  <a:tcPr>
                    <a:solidFill>
                      <a:srgbClr val="F8FAFC"/>
                    </a:solidFill>
                  </a:tcPr>
                </a:tc>
                <a:tc>
                  <a:txBody>
                    <a:bodyPr/>
                    <a:lstStyle/>
                    <a:p>
                      <a:pPr>
                        <a:defRPr sz="800" b="0">
                          <a:solidFill>
                            <a:srgbClr val="334155"/>
                          </a:solidFill>
                          <a:latin typeface="Segoe UI"/>
                        </a:defRPr>
                      </a:pPr>
                      <a:r>
                        <a:t>GIS, Jolpica F1, MailApp</a:t>
                      </a:r>
                    </a:p>
                  </a:txBody>
                  <a:tcPr>
                    <a:solidFill>
                      <a:srgbClr val="F8FAFC"/>
                    </a:solidFill>
                  </a:tcPr>
                </a:tc>
                <a:tc>
                  <a:txBody>
                    <a:bodyPr/>
                    <a:lstStyle/>
                    <a:p>
                      <a:pPr>
                        <a:defRPr sz="800" b="0">
                          <a:solidFill>
                            <a:srgbClr val="334155"/>
                          </a:solidFill>
                          <a:latin typeface="Segoe UI"/>
                        </a:defRPr>
                      </a:pPr>
                      <a:r>
                        <a:t>OAuth identity, motorsport calendar, and email dispatch.</a:t>
                      </a:r>
                    </a:p>
                  </a:txBody>
                  <a:tcPr>
                    <a:solidFill>
                      <a:srgbClr val="F8FAFC"/>
                    </a:solidFill>
                  </a:tcPr>
                </a:tc>
              </a:tr>
            </a:tbl>
          </a:graphicData>
        </a:graphic>
      </p:graphicFrame>
      <p:sp>
        <p:nvSpPr>
          <p:cNvPr id="15" name="Rounded Rectangle 14"/>
          <p:cNvSpPr/>
          <p:nvPr/>
        </p:nvSpPr>
        <p:spPr>
          <a:xfrm>
            <a:off x="6217920" y="4937760"/>
            <a:ext cx="5242255" cy="1280160"/>
          </a:xfrm>
          <a:prstGeom prst="roundRect">
            <a:avLst/>
          </a:prstGeom>
          <a:solidFill>
            <a:srgbClr val="FFFBE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5047488"/>
            <a:ext cx="4949647" cy="1060704"/>
          </a:xfrm>
          <a:prstGeom prst="rect">
            <a:avLst/>
          </a:prstGeom>
          <a:noFill/>
        </p:spPr>
        <p:txBody>
          <a:bodyPr wrap="square" lIns="0" tIns="0" rIns="0" bIns="0">
            <a:spAutoFit/>
          </a:bodyPr>
          <a:lstStyle/>
          <a:p>
            <a:pPr>
              <a:spcAft>
                <a:spcPts val="300"/>
              </a:spcAft>
              <a:defRPr sz="850" b="1">
                <a:solidFill>
                  <a:srgbClr val="78350F"/>
                </a:solidFill>
                <a:latin typeface="Segoe UI"/>
              </a:defRPr>
            </a:pPr>
            <a:r>
              <a:t>⚠️  VALIDATION CHECKPOINT</a:t>
            </a:r>
          </a:p>
          <a:p>
            <a:pPr>
              <a:defRPr sz="850">
                <a:solidFill>
                  <a:srgbClr val="78350F"/>
                </a:solidFill>
                <a:latin typeface="Segoe UI"/>
              </a:defRPr>
            </a:pPr>
            <a:r>
              <a:t>The exact request paths and whether every API action reaches the live backend must be checked against the frontend API client. The repository includes mock-data fallback behavior.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868680"/>
          </a:xfrm>
          <a:prstGeom prst="rect">
            <a:avLst/>
          </a:prstGeom>
          <a:noFill/>
        </p:spPr>
        <p:txBody>
          <a:bodyPr wrap="square" lIns="0" tIns="0" rIns="0" bIns="0">
            <a:spAutoFit/>
          </a:bodyPr>
          <a:lstStyle/>
          <a:p>
            <a:pPr>
              <a:spcAft>
                <a:spcPts val="200"/>
              </a:spcAft>
              <a:defRPr sz="850" b="1">
                <a:solidFill>
                  <a:srgbClr val="E10600"/>
                </a:solidFill>
                <a:latin typeface="Segoe UI"/>
              </a:defRPr>
            </a:pPr>
            <a:r>
              <a:t>C4 ARCHITECTURE MODEL  |  LEVEL 3: FRONTEND</a:t>
            </a:r>
          </a:p>
          <a:p>
            <a:pPr>
              <a:spcAft>
                <a:spcPts val="200"/>
              </a:spcAft>
              <a:defRPr sz="2000" b="1">
                <a:solidFill>
                  <a:srgbClr val="0F172A"/>
                </a:solidFill>
                <a:latin typeface="Segoe UI"/>
              </a:defRPr>
            </a:pPr>
            <a:r>
              <a:t>Slide 3 — Frontend Component Architecture (C4 Level 3)</a:t>
            </a:r>
          </a:p>
          <a:p>
            <a:pPr>
              <a:defRPr sz="1050">
                <a:solidFill>
                  <a:srgbClr val="475569"/>
                </a:solidFill>
                <a:latin typeface="Segoe UI"/>
              </a:defRPr>
            </a:pPr>
            <a:r>
              <a:t>Purpose: Explain how the frontend separates navigation, state, API communication, and feature modules.</a:t>
            </a:r>
          </a:p>
        </p:txBody>
      </p:sp>
      <p:sp>
        <p:nvSpPr>
          <p:cNvPr id="5" name="Rectangle 4"/>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10728655" cy="274320"/>
          </a:xfrm>
          <a:prstGeom prst="rect">
            <a:avLst/>
          </a:prstGeom>
          <a:noFill/>
        </p:spPr>
        <p:txBody>
          <a:bodyPr wrap="square" lIns="0" tIns="0" rIns="0" bIns="0">
            <a:spAutoFit/>
          </a:bodyPr>
          <a:lstStyle/>
          <a:p>
            <a:pPr>
              <a:defRPr sz="850">
                <a:solidFill>
                  <a:srgbClr val="94A3B8"/>
                </a:solidFill>
                <a:latin typeface="Segoe UI"/>
              </a:defRPr>
            </a:pPr>
            <a:r>
              <a:t>THE GRDX — Motorsport Prediction &amp; Community Platform  |  Technical Architecture Specification</a:t>
            </a:r>
          </a:p>
        </p:txBody>
      </p:sp>
      <p:sp>
        <p:nvSpPr>
          <p:cNvPr id="8" name="TextBox 7"/>
          <p:cNvSpPr txBox="1"/>
          <p:nvPr/>
        </p:nvSpPr>
        <p:spPr>
          <a:xfrm>
            <a:off x="9601200" y="6510528"/>
            <a:ext cx="1828800" cy="274320"/>
          </a:xfrm>
          <a:prstGeom prst="rect">
            <a:avLst/>
          </a:prstGeom>
          <a:noFill/>
        </p:spPr>
        <p:txBody>
          <a:bodyPr wrap="none" lIns="0" tIns="0" rIns="0" bIns="0">
            <a:spAutoFit/>
          </a:bodyPr>
          <a:lstStyle/>
          <a:p>
            <a:pPr algn="r">
              <a:defRPr sz="850" b="1">
                <a:solidFill>
                  <a:srgbClr val="475569"/>
                </a:solidFill>
                <a:latin typeface="Segoe UI"/>
              </a:defRPr>
            </a:pPr>
            <a:r>
              <a:t>Slide 3 of 10</a:t>
            </a:r>
          </a:p>
        </p:txBody>
      </p:sp>
      <p:sp>
        <p:nvSpPr>
          <p:cNvPr id="9" name="Rounded Rectangle 8"/>
          <p:cNvSpPr/>
          <p:nvPr/>
        </p:nvSpPr>
        <p:spPr>
          <a:xfrm>
            <a:off x="731520" y="1280160"/>
            <a:ext cx="530352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89888"/>
            <a:ext cx="4974336" cy="274320"/>
          </a:xfrm>
          <a:prstGeom prst="rect">
            <a:avLst/>
          </a:prstGeom>
          <a:noFill/>
        </p:spPr>
        <p:txBody>
          <a:bodyPr wrap="square" lIns="0" tIns="0" rIns="0" bIns="0">
            <a:spAutoFit/>
          </a:bodyPr>
          <a:lstStyle/>
          <a:p>
            <a:pPr>
              <a:defRPr sz="950" b="1">
                <a:solidFill>
                  <a:srgbClr val="0F172A"/>
                </a:solidFill>
                <a:latin typeface="Segoe UI"/>
              </a:defRPr>
            </a:pPr>
            <a:r>
              <a:t>FRONTEND COMPONENT INTERACTION MAP</a:t>
            </a:r>
          </a:p>
        </p:txBody>
      </p:sp>
      <p:pic>
        <p:nvPicPr>
          <p:cNvPr id="11" name="Picture 10" descr="slide_3_frontend_component.png"/>
          <p:cNvPicPr>
            <a:picLocks noChangeAspect="1"/>
          </p:cNvPicPr>
          <p:nvPr/>
        </p:nvPicPr>
        <p:blipFill>
          <a:blip r:embed="rId2"/>
          <a:stretch>
            <a:fillRect/>
          </a:stretch>
        </p:blipFill>
        <p:spPr>
          <a:xfrm>
            <a:off x="868680" y="2044273"/>
            <a:ext cx="5029200" cy="3683853"/>
          </a:xfrm>
          <a:prstGeom prst="rect">
            <a:avLst/>
          </a:prstGeom>
        </p:spPr>
      </p:pic>
      <p:sp>
        <p:nvSpPr>
          <p:cNvPr id="12" name="Rounded Rectangle 11"/>
          <p:cNvSpPr/>
          <p:nvPr/>
        </p:nvSpPr>
        <p:spPr>
          <a:xfrm>
            <a:off x="6217920" y="1280160"/>
            <a:ext cx="5242255" cy="3520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389888"/>
            <a:ext cx="4913071" cy="274320"/>
          </a:xfrm>
          <a:prstGeom prst="rect">
            <a:avLst/>
          </a:prstGeom>
          <a:noFill/>
        </p:spPr>
        <p:txBody>
          <a:bodyPr wrap="square" lIns="0" tIns="0" rIns="0" bIns="0">
            <a:spAutoFit/>
          </a:bodyPr>
          <a:lstStyle/>
          <a:p>
            <a:pPr>
              <a:defRPr sz="950" b="1">
                <a:solidFill>
                  <a:srgbClr val="0F172A"/>
                </a:solidFill>
                <a:latin typeface="Segoe UI"/>
              </a:defRPr>
            </a:pPr>
            <a:r>
              <a:t>MODULAR FRONTEND ARCHITECTURE</a:t>
            </a:r>
          </a:p>
        </p:txBody>
      </p:sp>
      <p:sp>
        <p:nvSpPr>
          <p:cNvPr id="14" name="TextBox 13"/>
          <p:cNvSpPr txBox="1"/>
          <p:nvPr/>
        </p:nvSpPr>
        <p:spPr>
          <a:xfrm>
            <a:off x="6355080" y="1645920"/>
            <a:ext cx="4967935" cy="3017520"/>
          </a:xfrm>
          <a:prstGeom prst="rect">
            <a:avLst/>
          </a:prstGeom>
          <a:noFill/>
        </p:spPr>
        <p:txBody>
          <a:bodyPr wrap="square" lIns="0" tIns="0">
            <a:spAutoFit/>
          </a:bodyPr>
          <a:lstStyle/>
          <a:p>
            <a:pPr>
              <a:spcAft>
                <a:spcPts val="400"/>
              </a:spcAft>
              <a:defRPr sz="850" b="1">
                <a:solidFill>
                  <a:srgbClr val="0F172A"/>
                </a:solidFill>
                <a:latin typeface="Segoe UI"/>
              </a:defRPr>
            </a:pPr>
            <a:r>
              <a:t>• Client-Side Routing (React Router 7): </a:t>
            </a:r>
            <a:r>
              <a:rPr b="0">
                <a:solidFill>
                  <a:srgbClr val="334155"/>
                </a:solidFill>
              </a:rPr>
              <a:t>Declarative SPA route tree for predictions, leaderboards, quizzes, search, profiles, and administration.</a:t>
            </a:r>
          </a:p>
          <a:p>
            <a:pPr>
              <a:spcAft>
                <a:spcPts val="400"/>
              </a:spcAft>
              <a:defRPr sz="850" b="1">
                <a:solidFill>
                  <a:srgbClr val="0F172A"/>
                </a:solidFill>
                <a:latin typeface="Segoe UI"/>
              </a:defRPr>
            </a:pPr>
            <a:r>
              <a:t>• Application State Management: </a:t>
            </a:r>
            <a:r>
              <a:rPr b="0">
                <a:solidFill>
                  <a:srgbClr val="334155"/>
                </a:solidFill>
              </a:rPr>
              <a:t>AuthContext encapsulates Google Identity tokens &amp; profile state; AppContext coordinates active rounds and global notifications.</a:t>
            </a:r>
          </a:p>
          <a:p>
            <a:pPr>
              <a:spcAft>
                <a:spcPts val="400"/>
              </a:spcAft>
              <a:defRPr sz="850" b="1">
                <a:solidFill>
                  <a:srgbClr val="0F172A"/>
                </a:solidFill>
                <a:latin typeface="Segoe UI"/>
              </a:defRPr>
            </a:pPr>
            <a:r>
              <a:t>• Feature UI Modules: </a:t>
            </a:r>
            <a:r>
              <a:rPr b="0">
                <a:solidFill>
                  <a:srgbClr val="334155"/>
                </a:solidFill>
              </a:rPr>
              <a:t>Self-contained feature views for race calendar sessions, interactive prediction entry, live scoreboards, and trivia quizzes.</a:t>
            </a:r>
          </a:p>
          <a:p>
            <a:pPr>
              <a:spcAft>
                <a:spcPts val="400"/>
              </a:spcAft>
              <a:defRPr sz="850" b="1">
                <a:solidFill>
                  <a:srgbClr val="0F172A"/>
                </a:solidFill>
                <a:latin typeface="Segoe UI"/>
              </a:defRPr>
            </a:pPr>
            <a:r>
              <a:t>• API Client Facade (`apiClient.ts`): </a:t>
            </a:r>
            <a:r>
              <a:rPr b="0">
                <a:solidFill>
                  <a:srgbClr val="334155"/>
                </a:solidFill>
              </a:rPr>
              <a:t>Centralizes frontend-to-backend communication, manages HTTP timeouts, and attaches bearer authorization.</a:t>
            </a:r>
          </a:p>
          <a:p>
            <a:pPr>
              <a:spcAft>
                <a:spcPts val="400"/>
              </a:spcAft>
              <a:defRPr sz="850" b="1">
                <a:solidFill>
                  <a:srgbClr val="0F172A"/>
                </a:solidFill>
                <a:latin typeface="Segoe UI"/>
              </a:defRPr>
            </a:pPr>
            <a:r>
              <a:t>• Motorsport Normalization &amp; Cache: </a:t>
            </a:r>
            <a:r>
              <a:rPr b="0">
                <a:solidFill>
                  <a:srgbClr val="334155"/>
                </a:solidFill>
              </a:rPr>
              <a:t>Transforms third-party Jolpica payloads into normalized UI models with localStorage TTL caching.</a:t>
            </a:r>
          </a:p>
          <a:p>
            <a:pPr>
              <a:spcAft>
                <a:spcPts val="400"/>
              </a:spcAft>
              <a:defRPr sz="850" b="1">
                <a:solidFill>
                  <a:srgbClr val="0F172A"/>
                </a:solidFill>
                <a:latin typeface="Segoe UI"/>
              </a:defRPr>
            </a:pPr>
            <a:r>
              <a:t>• Graceful Mock Fallback Engine: </a:t>
            </a:r>
            <a:r>
              <a:rPr b="0">
                <a:solidFill>
                  <a:srgbClr val="334155"/>
                </a:solidFill>
              </a:rPr>
              <a:t>Transparently serves local fixtures during offline development or backend API rate limiting.</a:t>
            </a:r>
          </a:p>
        </p:txBody>
      </p:sp>
      <p:sp>
        <p:nvSpPr>
          <p:cNvPr id="15" name="Rounded Rectangle 14"/>
          <p:cNvSpPr/>
          <p:nvPr/>
        </p:nvSpPr>
        <p:spPr>
          <a:xfrm>
            <a:off x="6217920" y="4937760"/>
            <a:ext cx="5242255" cy="1280160"/>
          </a:xfrm>
          <a:prstGeom prst="roundRect">
            <a:avLst/>
          </a:prstGeom>
          <a:solidFill>
            <a:srgbClr val="FFFBE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5047488"/>
            <a:ext cx="4949647" cy="1060704"/>
          </a:xfrm>
          <a:prstGeom prst="rect">
            <a:avLst/>
          </a:prstGeom>
          <a:noFill/>
        </p:spPr>
        <p:txBody>
          <a:bodyPr wrap="square" lIns="0" tIns="0" rIns="0" bIns="0">
            <a:spAutoFit/>
          </a:bodyPr>
          <a:lstStyle/>
          <a:p>
            <a:pPr>
              <a:spcAft>
                <a:spcPts val="300"/>
              </a:spcAft>
              <a:defRPr sz="850" b="1">
                <a:solidFill>
                  <a:srgbClr val="78350F"/>
                </a:solidFill>
                <a:latin typeface="Segoe UI"/>
              </a:defRPr>
            </a:pPr>
            <a:r>
              <a:t>⚠️  VALIDATION CHECKPOINT</a:t>
            </a:r>
          </a:p>
          <a:p>
            <a:pPr>
              <a:defRPr sz="850">
                <a:solidFill>
                  <a:srgbClr val="78350F"/>
                </a:solidFill>
                <a:latin typeface="Segoe UI"/>
              </a:defRPr>
            </a:pPr>
            <a:r>
              <a:t>Treat these as architectural groupings, not necessarily the exact names of every component file. Confirm the actual imports and call relationships before drawing fine-grained module dependencies.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868680"/>
          </a:xfrm>
          <a:prstGeom prst="rect">
            <a:avLst/>
          </a:prstGeom>
          <a:noFill/>
        </p:spPr>
        <p:txBody>
          <a:bodyPr wrap="square" lIns="0" tIns="0" rIns="0" bIns="0">
            <a:spAutoFit/>
          </a:bodyPr>
          <a:lstStyle/>
          <a:p>
            <a:pPr>
              <a:spcAft>
                <a:spcPts val="200"/>
              </a:spcAft>
              <a:defRPr sz="850" b="1">
                <a:solidFill>
                  <a:srgbClr val="E10600"/>
                </a:solidFill>
                <a:latin typeface="Segoe UI"/>
              </a:defRPr>
            </a:pPr>
            <a:r>
              <a:t>C4 ARCHITECTURE MODEL  |  LEVEL 3: BACKEND</a:t>
            </a:r>
          </a:p>
          <a:p>
            <a:pPr>
              <a:spcAft>
                <a:spcPts val="200"/>
              </a:spcAft>
              <a:defRPr sz="2000" b="1">
                <a:solidFill>
                  <a:srgbClr val="0F172A"/>
                </a:solidFill>
                <a:latin typeface="Segoe UI"/>
              </a:defRPr>
            </a:pPr>
            <a:r>
              <a:t>Slide 4 — Backend Component Architecture (C4 Level 3)</a:t>
            </a:r>
          </a:p>
          <a:p>
            <a:pPr>
              <a:defRPr sz="1050">
                <a:solidFill>
                  <a:srgbClr val="475569"/>
                </a:solidFill>
                <a:latin typeface="Segoe UI"/>
              </a:defRPr>
            </a:pPr>
            <a:r>
              <a:t>Purpose: Show how API requests enter the backend and reach application services and storage.</a:t>
            </a:r>
          </a:p>
        </p:txBody>
      </p:sp>
      <p:sp>
        <p:nvSpPr>
          <p:cNvPr id="5" name="Rectangle 4"/>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10728655" cy="274320"/>
          </a:xfrm>
          <a:prstGeom prst="rect">
            <a:avLst/>
          </a:prstGeom>
          <a:noFill/>
        </p:spPr>
        <p:txBody>
          <a:bodyPr wrap="square" lIns="0" tIns="0" rIns="0" bIns="0">
            <a:spAutoFit/>
          </a:bodyPr>
          <a:lstStyle/>
          <a:p>
            <a:pPr>
              <a:defRPr sz="850">
                <a:solidFill>
                  <a:srgbClr val="94A3B8"/>
                </a:solidFill>
                <a:latin typeface="Segoe UI"/>
              </a:defRPr>
            </a:pPr>
            <a:r>
              <a:t>THE GRDX — Motorsport Prediction &amp; Community Platform  |  Technical Architecture Specification</a:t>
            </a:r>
          </a:p>
        </p:txBody>
      </p:sp>
      <p:sp>
        <p:nvSpPr>
          <p:cNvPr id="8" name="TextBox 7"/>
          <p:cNvSpPr txBox="1"/>
          <p:nvPr/>
        </p:nvSpPr>
        <p:spPr>
          <a:xfrm>
            <a:off x="9601200" y="6510528"/>
            <a:ext cx="1828800" cy="274320"/>
          </a:xfrm>
          <a:prstGeom prst="rect">
            <a:avLst/>
          </a:prstGeom>
          <a:noFill/>
        </p:spPr>
        <p:txBody>
          <a:bodyPr wrap="none" lIns="0" tIns="0" rIns="0" bIns="0">
            <a:spAutoFit/>
          </a:bodyPr>
          <a:lstStyle/>
          <a:p>
            <a:pPr algn="r">
              <a:defRPr sz="850" b="1">
                <a:solidFill>
                  <a:srgbClr val="475569"/>
                </a:solidFill>
                <a:latin typeface="Segoe UI"/>
              </a:defRPr>
            </a:pPr>
            <a:r>
              <a:t>Slide 4 of 10</a:t>
            </a:r>
          </a:p>
        </p:txBody>
      </p:sp>
      <p:sp>
        <p:nvSpPr>
          <p:cNvPr id="9" name="Rounded Rectangle 8"/>
          <p:cNvSpPr/>
          <p:nvPr/>
        </p:nvSpPr>
        <p:spPr>
          <a:xfrm>
            <a:off x="731520" y="1280160"/>
            <a:ext cx="10728655" cy="27432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89888"/>
            <a:ext cx="10399471" cy="274320"/>
          </a:xfrm>
          <a:prstGeom prst="rect">
            <a:avLst/>
          </a:prstGeom>
          <a:noFill/>
        </p:spPr>
        <p:txBody>
          <a:bodyPr wrap="square" lIns="0" tIns="0" rIns="0" bIns="0">
            <a:spAutoFit/>
          </a:bodyPr>
          <a:lstStyle/>
          <a:p>
            <a:pPr>
              <a:defRPr sz="950" b="1">
                <a:solidFill>
                  <a:srgbClr val="0F172A"/>
                </a:solidFill>
                <a:latin typeface="Segoe UI"/>
              </a:defRPr>
            </a:pPr>
            <a:r>
              <a:t>BACKEND REQUEST ROUTING &amp; APPLICATION SERVICES ARCHITECTURE</a:t>
            </a:r>
          </a:p>
        </p:txBody>
      </p:sp>
      <p:pic>
        <p:nvPicPr>
          <p:cNvPr id="11" name="Picture 10" descr="slide_4_backend_component.png"/>
          <p:cNvPicPr>
            <a:picLocks noChangeAspect="1"/>
          </p:cNvPicPr>
          <p:nvPr/>
        </p:nvPicPr>
        <p:blipFill>
          <a:blip r:embed="rId2"/>
          <a:stretch>
            <a:fillRect/>
          </a:stretch>
        </p:blipFill>
        <p:spPr>
          <a:xfrm>
            <a:off x="1955375" y="1645920"/>
            <a:ext cx="8280943" cy="2286000"/>
          </a:xfrm>
          <a:prstGeom prst="rect">
            <a:avLst/>
          </a:prstGeom>
        </p:spPr>
      </p:pic>
      <p:sp>
        <p:nvSpPr>
          <p:cNvPr id="12" name="Rounded Rectangle 11"/>
          <p:cNvSpPr/>
          <p:nvPr/>
        </p:nvSpPr>
        <p:spPr>
          <a:xfrm>
            <a:off x="731520" y="4160520"/>
            <a:ext cx="3474720"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270248"/>
            <a:ext cx="3145536" cy="274320"/>
          </a:xfrm>
          <a:prstGeom prst="rect">
            <a:avLst/>
          </a:prstGeom>
          <a:noFill/>
        </p:spPr>
        <p:txBody>
          <a:bodyPr wrap="square" lIns="0" tIns="0" rIns="0" bIns="0">
            <a:spAutoFit/>
          </a:bodyPr>
          <a:lstStyle/>
          <a:p>
            <a:pPr>
              <a:defRPr sz="950" b="1">
                <a:solidFill>
                  <a:srgbClr val="0F172A"/>
                </a:solidFill>
                <a:latin typeface="Segoe UI"/>
              </a:defRPr>
            </a:pPr>
            <a:r>
              <a:t>GATEWAY &amp; DOMAIN SERVICES</a:t>
            </a:r>
          </a:p>
        </p:txBody>
      </p:sp>
      <p:sp>
        <p:nvSpPr>
          <p:cNvPr id="14" name="TextBox 13"/>
          <p:cNvSpPr txBox="1"/>
          <p:nvPr/>
        </p:nvSpPr>
        <p:spPr>
          <a:xfrm>
            <a:off x="868680" y="4480560"/>
            <a:ext cx="3200400" cy="1645920"/>
          </a:xfrm>
          <a:prstGeom prst="rect">
            <a:avLst/>
          </a:prstGeom>
          <a:noFill/>
        </p:spPr>
        <p:txBody>
          <a:bodyPr wrap="square" lIns="0" tIns="0">
            <a:spAutoFit/>
          </a:bodyPr>
          <a:lstStyle/>
          <a:p>
            <a:pPr>
              <a:spcAft>
                <a:spcPts val="200"/>
              </a:spcAft>
              <a:defRPr sz="850" b="1">
                <a:solidFill>
                  <a:srgbClr val="0F172A"/>
                </a:solidFill>
                <a:latin typeface="Segoe UI"/>
              </a:defRPr>
            </a:pPr>
            <a:r>
              <a:t>• API Gateway: </a:t>
            </a:r>
            <a:r>
              <a:rPr b="0">
                <a:solidFill>
                  <a:srgbClr val="334155"/>
                </a:solidFill>
              </a:rPr>
              <a:t>doGet(e) handles public queries; doPost(e) handles mutations.</a:t>
            </a:r>
          </a:p>
          <a:p>
            <a:pPr>
              <a:spcAft>
                <a:spcPts val="200"/>
              </a:spcAft>
              <a:defRPr sz="850" b="1">
                <a:solidFill>
                  <a:srgbClr val="0F172A"/>
                </a:solidFill>
                <a:latin typeface="Segoe UI"/>
              </a:defRPr>
            </a:pPr>
            <a:r>
              <a:t>• Action Dispatcher: </a:t>
            </a:r>
            <a:r>
              <a:rPr b="0">
                <a:solidFill>
                  <a:srgbClr val="334155"/>
                </a:solidFill>
              </a:rPr>
              <a:t>Single-point router delegating requests by action param.</a:t>
            </a:r>
          </a:p>
          <a:p>
            <a:pPr>
              <a:spcAft>
                <a:spcPts val="200"/>
              </a:spcAft>
              <a:defRPr sz="850" b="1">
                <a:solidFill>
                  <a:srgbClr val="0F172A"/>
                </a:solidFill>
                <a:latin typeface="Segoe UI"/>
              </a:defRPr>
            </a:pPr>
            <a:r>
              <a:t>• Authentication Service: </a:t>
            </a:r>
            <a:r>
              <a:rPr b="0">
                <a:solidFill>
                  <a:srgbClr val="334155"/>
                </a:solidFill>
              </a:rPr>
              <a:t>Validates Google GIS OAuth tokens with Google UserInfo API.</a:t>
            </a:r>
          </a:p>
          <a:p>
            <a:pPr>
              <a:spcAft>
                <a:spcPts val="200"/>
              </a:spcAft>
              <a:defRPr sz="850" b="1">
                <a:solidFill>
                  <a:srgbClr val="0F172A"/>
                </a:solidFill>
                <a:latin typeface="Segoe UI"/>
              </a:defRPr>
            </a:pPr>
            <a:r>
              <a:t>• Quiz &amp; Calendar Services: </a:t>
            </a:r>
            <a:r>
              <a:rPr b="0">
                <a:solidFill>
                  <a:srgbClr val="334155"/>
                </a:solidFill>
              </a:rPr>
              <a:t>Syncs F1 schedule and serves categorized trivia questions.</a:t>
            </a:r>
          </a:p>
        </p:txBody>
      </p:sp>
      <p:sp>
        <p:nvSpPr>
          <p:cNvPr id="15" name="Rounded Rectangle 14"/>
          <p:cNvSpPr/>
          <p:nvPr/>
        </p:nvSpPr>
        <p:spPr>
          <a:xfrm>
            <a:off x="4343400" y="4160520"/>
            <a:ext cx="3474720"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7992" y="4270248"/>
            <a:ext cx="3145536" cy="274320"/>
          </a:xfrm>
          <a:prstGeom prst="rect">
            <a:avLst/>
          </a:prstGeom>
          <a:noFill/>
        </p:spPr>
        <p:txBody>
          <a:bodyPr wrap="square" lIns="0" tIns="0" rIns="0" bIns="0">
            <a:spAutoFit/>
          </a:bodyPr>
          <a:lstStyle/>
          <a:p>
            <a:pPr>
              <a:defRPr sz="950" b="1">
                <a:solidFill>
                  <a:srgbClr val="0F172A"/>
                </a:solidFill>
                <a:latin typeface="Segoe UI"/>
              </a:defRPr>
            </a:pPr>
            <a:r>
              <a:t>DATA INTEGRITY &amp; CONCURRENCY</a:t>
            </a:r>
          </a:p>
        </p:txBody>
      </p:sp>
      <p:sp>
        <p:nvSpPr>
          <p:cNvPr id="17" name="TextBox 16"/>
          <p:cNvSpPr txBox="1"/>
          <p:nvPr/>
        </p:nvSpPr>
        <p:spPr>
          <a:xfrm>
            <a:off x="4480560" y="4480560"/>
            <a:ext cx="3200400" cy="1645920"/>
          </a:xfrm>
          <a:prstGeom prst="rect">
            <a:avLst/>
          </a:prstGeom>
          <a:noFill/>
        </p:spPr>
        <p:txBody>
          <a:bodyPr wrap="square" lIns="0" tIns="0">
            <a:spAutoFit/>
          </a:bodyPr>
          <a:lstStyle/>
          <a:p>
            <a:pPr>
              <a:spcAft>
                <a:spcPts val="200"/>
              </a:spcAft>
              <a:defRPr sz="850" b="1">
                <a:solidFill>
                  <a:srgbClr val="0F172A"/>
                </a:solidFill>
                <a:latin typeface="Segoe UI"/>
              </a:defRPr>
            </a:pPr>
            <a:r>
              <a:t>• Deadline Validation: </a:t>
            </a:r>
            <a:r>
              <a:rPr b="0">
                <a:solidFill>
                  <a:srgbClr val="334155"/>
                </a:solidFill>
              </a:rPr>
              <a:t>Enforces session cutoffs (5 min prior to session start).</a:t>
            </a:r>
          </a:p>
          <a:p>
            <a:pPr>
              <a:spcAft>
                <a:spcPts val="200"/>
              </a:spcAft>
              <a:defRPr sz="850" b="1">
                <a:solidFill>
                  <a:srgbClr val="0F172A"/>
                </a:solidFill>
                <a:latin typeface="Segoe UI"/>
              </a:defRPr>
            </a:pPr>
            <a:r>
              <a:t>• Scoring Engine: </a:t>
            </a:r>
            <a:r>
              <a:rPr b="0">
                <a:solidFill>
                  <a:srgbClr val="334155"/>
                </a:solidFill>
              </a:rPr>
              <a:t>Compares user picks against official FIA race results.</a:t>
            </a:r>
          </a:p>
          <a:p>
            <a:pPr>
              <a:spcAft>
                <a:spcPts val="200"/>
              </a:spcAft>
              <a:defRPr sz="850" b="1">
                <a:solidFill>
                  <a:srgbClr val="0F172A"/>
                </a:solidFill>
                <a:latin typeface="Segoe UI"/>
              </a:defRPr>
            </a:pPr>
            <a:r>
              <a:t>• LockService Mutex: </a:t>
            </a:r>
            <a:r>
              <a:rPr b="0">
                <a:solidFill>
                  <a:srgbClr val="334155"/>
                </a:solidFill>
              </a:rPr>
              <a:t>Serializes concurrent mutations to prevent race conditions.</a:t>
            </a:r>
          </a:p>
          <a:p>
            <a:pPr>
              <a:spcAft>
                <a:spcPts val="200"/>
              </a:spcAft>
              <a:defRPr sz="850" b="1">
                <a:solidFill>
                  <a:srgbClr val="0F172A"/>
                </a:solidFill>
                <a:latin typeface="Segoe UI"/>
              </a:defRPr>
            </a:pPr>
            <a:r>
              <a:t>• SpreadsheetApp Persistence: </a:t>
            </a:r>
            <a:r>
              <a:rPr b="0">
                <a:solidFill>
                  <a:srgbClr val="334155"/>
                </a:solidFill>
              </a:rPr>
              <a:t>Structured worksheet read/write via Apps Script V8.</a:t>
            </a:r>
          </a:p>
        </p:txBody>
      </p:sp>
      <p:sp>
        <p:nvSpPr>
          <p:cNvPr id="18" name="Rounded Rectangle 17"/>
          <p:cNvSpPr/>
          <p:nvPr/>
        </p:nvSpPr>
        <p:spPr>
          <a:xfrm>
            <a:off x="7955279" y="4160520"/>
            <a:ext cx="3504895" cy="2057400"/>
          </a:xfrm>
          <a:prstGeom prst="roundRect">
            <a:avLst/>
          </a:prstGeom>
          <a:solidFill>
            <a:srgbClr val="FFFBE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4270248"/>
            <a:ext cx="3212287" cy="1837944"/>
          </a:xfrm>
          <a:prstGeom prst="rect">
            <a:avLst/>
          </a:prstGeom>
          <a:noFill/>
        </p:spPr>
        <p:txBody>
          <a:bodyPr wrap="square" lIns="0" tIns="0" rIns="0" bIns="0">
            <a:spAutoFit/>
          </a:bodyPr>
          <a:lstStyle/>
          <a:p>
            <a:pPr>
              <a:spcAft>
                <a:spcPts val="300"/>
              </a:spcAft>
              <a:defRPr sz="850" b="1">
                <a:solidFill>
                  <a:srgbClr val="78350F"/>
                </a:solidFill>
                <a:latin typeface="Segoe UI"/>
              </a:defRPr>
            </a:pPr>
            <a:r>
              <a:t>⚠️  VALIDATION CHECKPOINT</a:t>
            </a:r>
          </a:p>
          <a:p>
            <a:pPr>
              <a:defRPr sz="850">
                <a:solidFill>
                  <a:srgbClr val="78350F"/>
                </a:solidFill>
                <a:latin typeface="Segoe UI"/>
              </a:defRPr>
            </a:pPr>
            <a:r>
              <a:t>This is a conceptual component map. In the final version, remove any arrow or component that cannot be traced to an actual handler or function in backend/Code.gs.</a:t>
            </a:r>
            <a:br/>
            <a:br/>
            <a:r>
              <a:t>Apps Script executes in a single-threaded serverless instance per request; LockService is essential for multi-user integrity.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868680"/>
          </a:xfrm>
          <a:prstGeom prst="rect">
            <a:avLst/>
          </a:prstGeom>
          <a:noFill/>
        </p:spPr>
        <p:txBody>
          <a:bodyPr wrap="square" lIns="0" tIns="0" rIns="0" bIns="0">
            <a:spAutoFit/>
          </a:bodyPr>
          <a:lstStyle/>
          <a:p>
            <a:pPr>
              <a:spcAft>
                <a:spcPts val="200"/>
              </a:spcAft>
              <a:defRPr sz="850" b="1">
                <a:solidFill>
                  <a:srgbClr val="E10600"/>
                </a:solidFill>
                <a:latin typeface="Segoe UI"/>
              </a:defRPr>
            </a:pPr>
            <a:r>
              <a:t>DATA ARCHITECTURE  |  RELATIONAL SCHEMA &amp; GOOGLE SHEETS DB</a:t>
            </a:r>
          </a:p>
          <a:p>
            <a:pPr>
              <a:spcAft>
                <a:spcPts val="200"/>
              </a:spcAft>
              <a:defRPr sz="2000" b="1">
                <a:solidFill>
                  <a:srgbClr val="0F172A"/>
                </a:solidFill>
                <a:latin typeface="Segoe UI"/>
              </a:defRPr>
            </a:pPr>
            <a:r>
              <a:t>Slide 5 — Data Model and Entity Relationship Diagram</a:t>
            </a:r>
          </a:p>
          <a:p>
            <a:pPr>
              <a:defRPr sz="1050">
                <a:solidFill>
                  <a:srgbClr val="475569"/>
                </a:solidFill>
                <a:latin typeface="Segoe UI"/>
              </a:defRPr>
            </a:pPr>
            <a:r>
              <a:t>Purpose: Explain how users, race weekends, predictions, results, and scores relate across 15 worksheets.</a:t>
            </a:r>
          </a:p>
        </p:txBody>
      </p:sp>
      <p:sp>
        <p:nvSpPr>
          <p:cNvPr id="5" name="Rectangle 4"/>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10728655" cy="274320"/>
          </a:xfrm>
          <a:prstGeom prst="rect">
            <a:avLst/>
          </a:prstGeom>
          <a:noFill/>
        </p:spPr>
        <p:txBody>
          <a:bodyPr wrap="square" lIns="0" tIns="0" rIns="0" bIns="0">
            <a:spAutoFit/>
          </a:bodyPr>
          <a:lstStyle/>
          <a:p>
            <a:pPr>
              <a:defRPr sz="850">
                <a:solidFill>
                  <a:srgbClr val="94A3B8"/>
                </a:solidFill>
                <a:latin typeface="Segoe UI"/>
              </a:defRPr>
            </a:pPr>
            <a:r>
              <a:t>THE GRDX — Motorsport Prediction &amp; Community Platform  |  Technical Architecture Specification</a:t>
            </a:r>
          </a:p>
        </p:txBody>
      </p:sp>
      <p:sp>
        <p:nvSpPr>
          <p:cNvPr id="8" name="TextBox 7"/>
          <p:cNvSpPr txBox="1"/>
          <p:nvPr/>
        </p:nvSpPr>
        <p:spPr>
          <a:xfrm>
            <a:off x="9601200" y="6510528"/>
            <a:ext cx="1828800" cy="274320"/>
          </a:xfrm>
          <a:prstGeom prst="rect">
            <a:avLst/>
          </a:prstGeom>
          <a:noFill/>
        </p:spPr>
        <p:txBody>
          <a:bodyPr wrap="none" lIns="0" tIns="0" rIns="0" bIns="0">
            <a:spAutoFit/>
          </a:bodyPr>
          <a:lstStyle/>
          <a:p>
            <a:pPr algn="r">
              <a:defRPr sz="850" b="1">
                <a:solidFill>
                  <a:srgbClr val="475569"/>
                </a:solidFill>
                <a:latin typeface="Segoe UI"/>
              </a:defRPr>
            </a:pPr>
            <a:r>
              <a:t>Slide 5 of 10</a:t>
            </a:r>
          </a:p>
        </p:txBody>
      </p:sp>
      <p:sp>
        <p:nvSpPr>
          <p:cNvPr id="9" name="Rounded Rectangle 8"/>
          <p:cNvSpPr/>
          <p:nvPr/>
        </p:nvSpPr>
        <p:spPr>
          <a:xfrm>
            <a:off x="731520" y="1280160"/>
            <a:ext cx="621792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89888"/>
            <a:ext cx="5888736" cy="274320"/>
          </a:xfrm>
          <a:prstGeom prst="rect">
            <a:avLst/>
          </a:prstGeom>
          <a:noFill/>
        </p:spPr>
        <p:txBody>
          <a:bodyPr wrap="square" lIns="0" tIns="0" rIns="0" bIns="0">
            <a:spAutoFit/>
          </a:bodyPr>
          <a:lstStyle/>
          <a:p>
            <a:pPr>
              <a:defRPr sz="950" b="1">
                <a:solidFill>
                  <a:srgbClr val="0F172A"/>
                </a:solidFill>
                <a:latin typeface="Segoe UI"/>
              </a:defRPr>
            </a:pPr>
            <a:r>
              <a:t>15-WORKSHEET ENTITY RELATIONSHIP MODEL</a:t>
            </a:r>
          </a:p>
        </p:txBody>
      </p:sp>
      <p:pic>
        <p:nvPicPr>
          <p:cNvPr id="11" name="Picture 10" descr="slide_5_data_model_erd.png"/>
          <p:cNvPicPr>
            <a:picLocks noChangeAspect="1"/>
          </p:cNvPicPr>
          <p:nvPr/>
        </p:nvPicPr>
        <p:blipFill>
          <a:blip r:embed="rId2"/>
          <a:stretch>
            <a:fillRect/>
          </a:stretch>
        </p:blipFill>
        <p:spPr>
          <a:xfrm>
            <a:off x="868680" y="2377475"/>
            <a:ext cx="5943600" cy="3017449"/>
          </a:xfrm>
          <a:prstGeom prst="rect">
            <a:avLst/>
          </a:prstGeom>
        </p:spPr>
      </p:pic>
      <p:sp>
        <p:nvSpPr>
          <p:cNvPr id="12" name="Rounded Rectangle 11"/>
          <p:cNvSpPr/>
          <p:nvPr/>
        </p:nvSpPr>
        <p:spPr>
          <a:xfrm>
            <a:off x="7132320" y="1280160"/>
            <a:ext cx="4327855" cy="3246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96912" y="1389888"/>
            <a:ext cx="3998671" cy="274320"/>
          </a:xfrm>
          <a:prstGeom prst="rect">
            <a:avLst/>
          </a:prstGeom>
          <a:noFill/>
        </p:spPr>
        <p:txBody>
          <a:bodyPr wrap="square" lIns="0" tIns="0" rIns="0" bIns="0">
            <a:spAutoFit/>
          </a:bodyPr>
          <a:lstStyle/>
          <a:p>
            <a:pPr>
              <a:defRPr sz="950" b="1">
                <a:solidFill>
                  <a:srgbClr val="0F172A"/>
                </a:solidFill>
                <a:latin typeface="Segoe UI"/>
              </a:defRPr>
            </a:pPr>
            <a:r>
              <a:t>WORKSHEET ENTITIES &amp; RELATIONSHIPS</a:t>
            </a:r>
          </a:p>
        </p:txBody>
      </p:sp>
      <p:sp>
        <p:nvSpPr>
          <p:cNvPr id="14" name="TextBox 13"/>
          <p:cNvSpPr txBox="1"/>
          <p:nvPr/>
        </p:nvSpPr>
        <p:spPr>
          <a:xfrm>
            <a:off x="7269480" y="1645920"/>
            <a:ext cx="4053535" cy="2743200"/>
          </a:xfrm>
          <a:prstGeom prst="rect">
            <a:avLst/>
          </a:prstGeom>
          <a:noFill/>
        </p:spPr>
        <p:txBody>
          <a:bodyPr wrap="square" lIns="0" tIns="0">
            <a:spAutoFit/>
          </a:bodyPr>
          <a:lstStyle/>
          <a:p>
            <a:pPr>
              <a:spcAft>
                <a:spcPts val="250"/>
              </a:spcAft>
              <a:defRPr sz="850" b="1">
                <a:solidFill>
                  <a:srgbClr val="0F172A"/>
                </a:solidFill>
                <a:latin typeface="Segoe UI"/>
              </a:defRPr>
            </a:pPr>
            <a:r>
              <a:t>• Users (Identity Anchor): </a:t>
            </a:r>
            <a:r>
              <a:rPr b="0">
                <a:solidFill>
                  <a:srgbClr val="334155"/>
                </a:solidFill>
              </a:rPr>
              <a:t>Anchored by googleSubjectId (sub); maps to prediction submissions, total score aggregates, badges, and quiz attempts.</a:t>
            </a:r>
          </a:p>
          <a:p>
            <a:pPr>
              <a:spcAft>
                <a:spcPts val="250"/>
              </a:spcAft>
              <a:defRPr sz="850" b="1">
                <a:solidFill>
                  <a:srgbClr val="0F172A"/>
                </a:solidFill>
                <a:latin typeface="Segoe UI"/>
              </a:defRPr>
            </a:pPr>
            <a:r>
              <a:t>• RaceWeekends &amp; Sessions: </a:t>
            </a:r>
            <a:r>
              <a:rPr b="0">
                <a:solidFill>
                  <a:srgbClr val="334155"/>
                </a:solidFill>
              </a:rPr>
              <a:t>Motorsport calendar hierarchy defining Grand Prix rounds, practice, sprint, and main race sessions.</a:t>
            </a:r>
          </a:p>
          <a:p>
            <a:pPr>
              <a:spcAft>
                <a:spcPts val="250"/>
              </a:spcAft>
              <a:defRPr sz="850" b="1">
                <a:solidFill>
                  <a:srgbClr val="0F172A"/>
                </a:solidFill>
                <a:latin typeface="Segoe UI"/>
              </a:defRPr>
            </a:pPr>
            <a:r>
              <a:t>• PredictionRounds &amp; Predictions: </a:t>
            </a:r>
            <a:r>
              <a:rPr b="0">
                <a:solidFill>
                  <a:srgbClr val="334155"/>
                </a:solidFill>
              </a:rPr>
              <a:t>Binds active prediction opportunities to user picks and submission timestamps.</a:t>
            </a:r>
          </a:p>
          <a:p>
            <a:pPr>
              <a:spcAft>
                <a:spcPts val="250"/>
              </a:spcAft>
              <a:defRPr sz="850" b="1">
                <a:solidFill>
                  <a:srgbClr val="0F172A"/>
                </a:solidFill>
                <a:latin typeface="Segoe UI"/>
              </a:defRPr>
            </a:pPr>
            <a:r>
              <a:t>• Results &amp; Scores: </a:t>
            </a:r>
            <a:r>
              <a:rPr b="0">
                <a:solidFill>
                  <a:srgbClr val="334155"/>
                </a:solidFill>
              </a:rPr>
              <a:t>Official FIA session outcomes mapped to computed points, powering event and seasonal leaderboards.</a:t>
            </a:r>
          </a:p>
          <a:p>
            <a:pPr>
              <a:spcAft>
                <a:spcPts val="250"/>
              </a:spcAft>
              <a:defRPr sz="850" b="1">
                <a:solidFill>
                  <a:srgbClr val="0F172A"/>
                </a:solidFill>
                <a:latin typeface="Segoe UI"/>
              </a:defRPr>
            </a:pPr>
            <a:r>
              <a:t>• QuizCategories &amp; Questions: </a:t>
            </a:r>
            <a:r>
              <a:rPr b="0">
                <a:solidFill>
                  <a:srgbClr val="334155"/>
                </a:solidFill>
              </a:rPr>
              <a:t>Trivia question bank with difficulty tiers, completion logs, and quiz badges.</a:t>
            </a:r>
          </a:p>
          <a:p>
            <a:pPr>
              <a:spcAft>
                <a:spcPts val="250"/>
              </a:spcAft>
              <a:defRPr sz="850" b="1">
                <a:solidFill>
                  <a:srgbClr val="0F172A"/>
                </a:solidFill>
                <a:latin typeface="Segoe UI"/>
              </a:defRPr>
            </a:pPr>
            <a:r>
              <a:t>• NotificationQueue &amp; Log: </a:t>
            </a:r>
            <a:r>
              <a:rPr b="0">
                <a:solidFill>
                  <a:srgbClr val="334155"/>
                </a:solidFill>
              </a:rPr>
              <a:t>Asynchronous email task queue with delivery timestamps and retry counters.</a:t>
            </a:r>
          </a:p>
        </p:txBody>
      </p:sp>
      <p:sp>
        <p:nvSpPr>
          <p:cNvPr id="15" name="Rounded Rectangle 14"/>
          <p:cNvSpPr/>
          <p:nvPr/>
        </p:nvSpPr>
        <p:spPr>
          <a:xfrm>
            <a:off x="7132320" y="4663440"/>
            <a:ext cx="4327855" cy="1554480"/>
          </a:xfrm>
          <a:prstGeom prst="roundRect">
            <a:avLst/>
          </a:prstGeom>
          <a:solidFill>
            <a:srgbClr val="FFFBE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78624" y="4773168"/>
            <a:ext cx="4035247" cy="1335024"/>
          </a:xfrm>
          <a:prstGeom prst="rect">
            <a:avLst/>
          </a:prstGeom>
          <a:noFill/>
        </p:spPr>
        <p:txBody>
          <a:bodyPr wrap="square" lIns="0" tIns="0" rIns="0" bIns="0">
            <a:spAutoFit/>
          </a:bodyPr>
          <a:lstStyle/>
          <a:p>
            <a:pPr>
              <a:spcAft>
                <a:spcPts val="300"/>
              </a:spcAft>
              <a:defRPr sz="850" b="1">
                <a:solidFill>
                  <a:srgbClr val="78350F"/>
                </a:solidFill>
                <a:latin typeface="Segoe UI"/>
              </a:defRPr>
            </a:pPr>
            <a:r>
              <a:t>⚠️  IMPORTANT ARCHITECTURE CHECKPOINT</a:t>
            </a:r>
          </a:p>
          <a:p>
            <a:pPr>
              <a:defRPr sz="850">
                <a:solidFill>
                  <a:srgbClr val="78350F"/>
                </a:solidFill>
                <a:latin typeface="Segoe UI"/>
              </a:defRPr>
            </a:pPr>
            <a:r>
              <a:t>This is a conceptual ERD based on relationships described in docs/ARCHITECTURE.md. Google Sheets does not enforce relational foreign keys like a conventional SQL database. All referential integrity, uniqueness rules, and UUID lookups are enforced in application code. Verify exact sheet names against backend/SetupSheet.gs.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868680"/>
          </a:xfrm>
          <a:prstGeom prst="rect">
            <a:avLst/>
          </a:prstGeom>
          <a:noFill/>
        </p:spPr>
        <p:txBody>
          <a:bodyPr wrap="square" lIns="0" tIns="0" rIns="0" bIns="0">
            <a:spAutoFit/>
          </a:bodyPr>
          <a:lstStyle/>
          <a:p>
            <a:pPr>
              <a:spcAft>
                <a:spcPts val="200"/>
              </a:spcAft>
              <a:defRPr sz="850" b="1">
                <a:solidFill>
                  <a:srgbClr val="E10600"/>
                </a:solidFill>
                <a:latin typeface="Segoe UI"/>
              </a:defRPr>
            </a:pPr>
            <a:r>
              <a:t>CORE BUSINESS WORKFLOWS  |  PREDICTION ENGINE</a:t>
            </a:r>
          </a:p>
          <a:p>
            <a:pPr>
              <a:spcAft>
                <a:spcPts val="200"/>
              </a:spcAft>
              <a:defRPr sz="2000" b="1">
                <a:solidFill>
                  <a:srgbClr val="0F172A"/>
                </a:solidFill>
                <a:latin typeface="Segoe UI"/>
              </a:defRPr>
            </a:pPr>
            <a:r>
              <a:t>Slide 6 — Prediction Lifecycle and Scoring Engine</a:t>
            </a:r>
          </a:p>
          <a:p>
            <a:pPr>
              <a:defRPr sz="1050">
                <a:solidFill>
                  <a:srgbClr val="475569"/>
                </a:solidFill>
                <a:latin typeface="Segoe UI"/>
              </a:defRPr>
            </a:pPr>
            <a:r>
              <a:t>Purpose: Demonstrate the core business workflow, from opening a prediction round through calculating a user's score.</a:t>
            </a:r>
          </a:p>
        </p:txBody>
      </p:sp>
      <p:sp>
        <p:nvSpPr>
          <p:cNvPr id="5" name="Rectangle 4"/>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10728655" cy="274320"/>
          </a:xfrm>
          <a:prstGeom prst="rect">
            <a:avLst/>
          </a:prstGeom>
          <a:noFill/>
        </p:spPr>
        <p:txBody>
          <a:bodyPr wrap="square" lIns="0" tIns="0" rIns="0" bIns="0">
            <a:spAutoFit/>
          </a:bodyPr>
          <a:lstStyle/>
          <a:p>
            <a:pPr>
              <a:defRPr sz="850">
                <a:solidFill>
                  <a:srgbClr val="94A3B8"/>
                </a:solidFill>
                <a:latin typeface="Segoe UI"/>
              </a:defRPr>
            </a:pPr>
            <a:r>
              <a:t>THE GRDX — Motorsport Prediction &amp; Community Platform  |  Technical Architecture Specification</a:t>
            </a:r>
          </a:p>
        </p:txBody>
      </p:sp>
      <p:sp>
        <p:nvSpPr>
          <p:cNvPr id="8" name="TextBox 7"/>
          <p:cNvSpPr txBox="1"/>
          <p:nvPr/>
        </p:nvSpPr>
        <p:spPr>
          <a:xfrm>
            <a:off x="9601200" y="6510528"/>
            <a:ext cx="1828800" cy="274320"/>
          </a:xfrm>
          <a:prstGeom prst="rect">
            <a:avLst/>
          </a:prstGeom>
          <a:noFill/>
        </p:spPr>
        <p:txBody>
          <a:bodyPr wrap="none" lIns="0" tIns="0" rIns="0" bIns="0">
            <a:spAutoFit/>
          </a:bodyPr>
          <a:lstStyle/>
          <a:p>
            <a:pPr algn="r">
              <a:defRPr sz="850" b="1">
                <a:solidFill>
                  <a:srgbClr val="475569"/>
                </a:solidFill>
                <a:latin typeface="Segoe UI"/>
              </a:defRPr>
            </a:pPr>
            <a:r>
              <a:t>Slide 6 of 10</a:t>
            </a:r>
          </a:p>
        </p:txBody>
      </p:sp>
      <p:sp>
        <p:nvSpPr>
          <p:cNvPr id="9" name="Rounded Rectangle 8"/>
          <p:cNvSpPr/>
          <p:nvPr/>
        </p:nvSpPr>
        <p:spPr>
          <a:xfrm>
            <a:off x="731520" y="1280160"/>
            <a:ext cx="411480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89888"/>
            <a:ext cx="3785616" cy="274320"/>
          </a:xfrm>
          <a:prstGeom prst="rect">
            <a:avLst/>
          </a:prstGeom>
          <a:noFill/>
        </p:spPr>
        <p:txBody>
          <a:bodyPr wrap="square" lIns="0" tIns="0" rIns="0" bIns="0">
            <a:spAutoFit/>
          </a:bodyPr>
          <a:lstStyle/>
          <a:p>
            <a:pPr>
              <a:defRPr sz="950" b="1">
                <a:solidFill>
                  <a:srgbClr val="0F172A"/>
                </a:solidFill>
                <a:latin typeface="Segoe UI"/>
              </a:defRPr>
            </a:pPr>
            <a:r>
              <a:t>PREDICTION LIFECYCLE WORKFLOW</a:t>
            </a:r>
          </a:p>
        </p:txBody>
      </p:sp>
      <p:pic>
        <p:nvPicPr>
          <p:cNvPr id="11" name="Picture 10" descr="slide_6_prediction_lifecycle.png"/>
          <p:cNvPicPr>
            <a:picLocks noChangeAspect="1"/>
          </p:cNvPicPr>
          <p:nvPr/>
        </p:nvPicPr>
        <p:blipFill>
          <a:blip r:embed="rId2"/>
          <a:stretch>
            <a:fillRect/>
          </a:stretch>
        </p:blipFill>
        <p:spPr>
          <a:xfrm>
            <a:off x="1963183" y="1691640"/>
            <a:ext cx="1651472" cy="4389120"/>
          </a:xfrm>
          <a:prstGeom prst="rect">
            <a:avLst/>
          </a:prstGeom>
        </p:spPr>
      </p:pic>
      <p:sp>
        <p:nvSpPr>
          <p:cNvPr id="12" name="Rounded Rectangle 11"/>
          <p:cNvSpPr/>
          <p:nvPr/>
        </p:nvSpPr>
        <p:spPr>
          <a:xfrm>
            <a:off x="5029200" y="1280160"/>
            <a:ext cx="6430975" cy="3291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93792" y="1389888"/>
            <a:ext cx="6101791" cy="274320"/>
          </a:xfrm>
          <a:prstGeom prst="rect">
            <a:avLst/>
          </a:prstGeom>
          <a:noFill/>
        </p:spPr>
        <p:txBody>
          <a:bodyPr wrap="square" lIns="0" tIns="0" rIns="0" bIns="0">
            <a:spAutoFit/>
          </a:bodyPr>
          <a:lstStyle/>
          <a:p>
            <a:pPr>
              <a:defRPr sz="950" b="1">
                <a:solidFill>
                  <a:srgbClr val="0F172A"/>
                </a:solidFill>
                <a:latin typeface="Segoe UI"/>
              </a:defRPr>
            </a:pPr>
            <a:r>
              <a:t>OFFICIAL DOCUMENTED SCORING MODEL</a:t>
            </a:r>
          </a:p>
        </p:txBody>
      </p:sp>
      <p:graphicFrame>
        <p:nvGraphicFramePr>
          <p:cNvPr id="14" name="Table 13"/>
          <p:cNvGraphicFramePr>
            <a:graphicFrameLocks noGrp="1"/>
          </p:cNvGraphicFramePr>
          <p:nvPr/>
        </p:nvGraphicFramePr>
        <p:xfrm>
          <a:off x="5166360" y="1600200"/>
          <a:ext cx="6156655" cy="2834640"/>
        </p:xfrm>
        <a:graphic>
          <a:graphicData uri="http://schemas.openxmlformats.org/drawingml/2006/table">
            <a:tbl>
              <a:tblPr firstRow="1" bandRow="1">
                <a:tableStyleId>{5C22544A-7EE6-4342-B048-85BDC9FD1C3A}</a:tableStyleId>
              </a:tblPr>
              <a:tblGrid>
                <a:gridCol w="2103120"/>
                <a:gridCol w="1005840"/>
                <a:gridCol w="3047695"/>
              </a:tblGrid>
              <a:tr h="314960">
                <a:tc>
                  <a:txBody>
                    <a:bodyPr/>
                    <a:lstStyle/>
                    <a:p>
                      <a:pPr>
                        <a:defRPr sz="850" b="1">
                          <a:solidFill>
                            <a:srgbClr val="FFFFFF"/>
                          </a:solidFill>
                          <a:latin typeface="Segoe UI"/>
                        </a:defRPr>
                      </a:pPr>
                      <a:r>
                        <a:t>Prediction Outcome</a:t>
                      </a:r>
                    </a:p>
                  </a:txBody>
                  <a:tcPr>
                    <a:solidFill>
                      <a:srgbClr val="1E293B"/>
                    </a:solidFill>
                  </a:tcPr>
                </a:tc>
                <a:tc>
                  <a:txBody>
                    <a:bodyPr/>
                    <a:lstStyle/>
                    <a:p>
                      <a:pPr>
                        <a:defRPr sz="850" b="1">
                          <a:solidFill>
                            <a:srgbClr val="FFFFFF"/>
                          </a:solidFill>
                          <a:latin typeface="Segoe UI"/>
                        </a:defRPr>
                      </a:pPr>
                      <a:r>
                        <a:t>Points</a:t>
                      </a:r>
                    </a:p>
                  </a:txBody>
                  <a:tcPr>
                    <a:solidFill>
                      <a:srgbClr val="1E293B"/>
                    </a:solidFill>
                  </a:tcPr>
                </a:tc>
                <a:tc>
                  <a:txBody>
                    <a:bodyPr/>
                    <a:lstStyle/>
                    <a:p>
                      <a:pPr>
                        <a:defRPr sz="850" b="1">
                          <a:solidFill>
                            <a:srgbClr val="FFFFFF"/>
                          </a:solidFill>
                          <a:latin typeface="Segoe UI"/>
                        </a:defRPr>
                      </a:pPr>
                      <a:r>
                        <a:t>Evaluation Criteria</a:t>
                      </a:r>
                    </a:p>
                  </a:txBody>
                  <a:tcPr>
                    <a:solidFill>
                      <a:srgbClr val="1E293B"/>
                    </a:solidFill>
                  </a:tcPr>
                </a:tc>
              </a:tr>
              <a:tr h="314960">
                <a:tc>
                  <a:txBody>
                    <a:bodyPr/>
                    <a:lstStyle/>
                    <a:p>
                      <a:pPr>
                        <a:defRPr sz="800" b="1">
                          <a:solidFill>
                            <a:srgbClr val="334155"/>
                          </a:solidFill>
                          <a:latin typeface="Segoe UI"/>
                        </a:defRPr>
                      </a:pPr>
                      <a:r>
                        <a:t>Exact P1 Winner</a:t>
                      </a:r>
                    </a:p>
                  </a:txBody>
                  <a:tcPr>
                    <a:solidFill>
                      <a:srgbClr val="FFFFFF"/>
                    </a:solidFill>
                  </a:tcPr>
                </a:tc>
                <a:tc>
                  <a:txBody>
                    <a:bodyPr/>
                    <a:lstStyle/>
                    <a:p>
                      <a:pPr>
                        <a:defRPr sz="800" b="1">
                          <a:solidFill>
                            <a:srgbClr val="E10600"/>
                          </a:solidFill>
                          <a:latin typeface="Segoe UI"/>
                        </a:defRPr>
                      </a:pPr>
                      <a:r>
                        <a:t>15 pts</a:t>
                      </a:r>
                    </a:p>
                  </a:txBody>
                  <a:tcPr>
                    <a:solidFill>
                      <a:srgbClr val="FFFFFF"/>
                    </a:solidFill>
                  </a:tcPr>
                </a:tc>
                <a:tc>
                  <a:txBody>
                    <a:bodyPr/>
                    <a:lstStyle/>
                    <a:p>
                      <a:pPr>
                        <a:defRPr sz="800" b="0">
                          <a:solidFill>
                            <a:srgbClr val="334155"/>
                          </a:solidFill>
                          <a:latin typeface="Segoe UI"/>
                        </a:defRPr>
                      </a:pPr>
                      <a:r>
                        <a:t>Selected driver finishes in 1st position</a:t>
                      </a:r>
                    </a:p>
                  </a:txBody>
                  <a:tcPr>
                    <a:solidFill>
                      <a:srgbClr val="FFFFFF"/>
                    </a:solidFill>
                  </a:tcPr>
                </a:tc>
              </a:tr>
              <a:tr h="314960">
                <a:tc>
                  <a:txBody>
                    <a:bodyPr/>
                    <a:lstStyle/>
                    <a:p>
                      <a:pPr>
                        <a:defRPr sz="800" b="1">
                          <a:solidFill>
                            <a:srgbClr val="334155"/>
                          </a:solidFill>
                          <a:latin typeface="Segoe UI"/>
                        </a:defRPr>
                      </a:pPr>
                      <a:r>
                        <a:t>Exact P2 Runner-Up</a:t>
                      </a:r>
                    </a:p>
                  </a:txBody>
                  <a:tcPr>
                    <a:solidFill>
                      <a:srgbClr val="F8FAFC"/>
                    </a:solidFill>
                  </a:tcPr>
                </a:tc>
                <a:tc>
                  <a:txBody>
                    <a:bodyPr/>
                    <a:lstStyle/>
                    <a:p>
                      <a:pPr>
                        <a:defRPr sz="800" b="1">
                          <a:solidFill>
                            <a:srgbClr val="E10600"/>
                          </a:solidFill>
                          <a:latin typeface="Segoe UI"/>
                        </a:defRPr>
                      </a:pPr>
                      <a:r>
                        <a:t>10 pts</a:t>
                      </a:r>
                    </a:p>
                  </a:txBody>
                  <a:tcPr>
                    <a:solidFill>
                      <a:srgbClr val="F8FAFC"/>
                    </a:solidFill>
                  </a:tcPr>
                </a:tc>
                <a:tc>
                  <a:txBody>
                    <a:bodyPr/>
                    <a:lstStyle/>
                    <a:p>
                      <a:pPr>
                        <a:defRPr sz="800" b="0">
                          <a:solidFill>
                            <a:srgbClr val="334155"/>
                          </a:solidFill>
                          <a:latin typeface="Segoe UI"/>
                        </a:defRPr>
                      </a:pPr>
                      <a:r>
                        <a:t>Selected driver finishes in 2nd position</a:t>
                      </a:r>
                    </a:p>
                  </a:txBody>
                  <a:tcPr>
                    <a:solidFill>
                      <a:srgbClr val="F8FAFC"/>
                    </a:solidFill>
                  </a:tcPr>
                </a:tc>
              </a:tr>
              <a:tr h="314960">
                <a:tc>
                  <a:txBody>
                    <a:bodyPr/>
                    <a:lstStyle/>
                    <a:p>
                      <a:pPr>
                        <a:defRPr sz="800" b="1">
                          <a:solidFill>
                            <a:srgbClr val="334155"/>
                          </a:solidFill>
                          <a:latin typeface="Segoe UI"/>
                        </a:defRPr>
                      </a:pPr>
                      <a:r>
                        <a:t>Exact P3 Third Place</a:t>
                      </a:r>
                    </a:p>
                  </a:txBody>
                  <a:tcPr>
                    <a:solidFill>
                      <a:srgbClr val="FFFFFF"/>
                    </a:solidFill>
                  </a:tcPr>
                </a:tc>
                <a:tc>
                  <a:txBody>
                    <a:bodyPr/>
                    <a:lstStyle/>
                    <a:p>
                      <a:pPr>
                        <a:defRPr sz="800" b="1">
                          <a:solidFill>
                            <a:srgbClr val="E10600"/>
                          </a:solidFill>
                          <a:latin typeface="Segoe UI"/>
                        </a:defRPr>
                      </a:pPr>
                      <a:r>
                        <a:t>10 pts</a:t>
                      </a:r>
                    </a:p>
                  </a:txBody>
                  <a:tcPr>
                    <a:solidFill>
                      <a:srgbClr val="FFFFFF"/>
                    </a:solidFill>
                  </a:tcPr>
                </a:tc>
                <a:tc>
                  <a:txBody>
                    <a:bodyPr/>
                    <a:lstStyle/>
                    <a:p>
                      <a:pPr>
                        <a:defRPr sz="800" b="0">
                          <a:solidFill>
                            <a:srgbClr val="334155"/>
                          </a:solidFill>
                          <a:latin typeface="Segoe UI"/>
                        </a:defRPr>
                      </a:pPr>
                      <a:r>
                        <a:t>Selected driver finishes in 3rd position</a:t>
                      </a:r>
                    </a:p>
                  </a:txBody>
                  <a:tcPr>
                    <a:solidFill>
                      <a:srgbClr val="FFFFFF"/>
                    </a:solidFill>
                  </a:tcPr>
                </a:tc>
              </a:tr>
              <a:tr h="314960">
                <a:tc>
                  <a:txBody>
                    <a:bodyPr/>
                    <a:lstStyle/>
                    <a:p>
                      <a:pPr>
                        <a:defRPr sz="800" b="1">
                          <a:solidFill>
                            <a:srgbClr val="334155"/>
                          </a:solidFill>
                          <a:latin typeface="Segoe UI"/>
                        </a:defRPr>
                      </a:pPr>
                      <a:r>
                        <a:t>Podium Driver (Wrong Position)</a:t>
                      </a:r>
                    </a:p>
                  </a:txBody>
                  <a:tcPr>
                    <a:solidFill>
                      <a:srgbClr val="F8FAFC"/>
                    </a:solidFill>
                  </a:tcPr>
                </a:tc>
                <a:tc>
                  <a:txBody>
                    <a:bodyPr/>
                    <a:lstStyle/>
                    <a:p>
                      <a:pPr>
                        <a:defRPr sz="800" b="1">
                          <a:solidFill>
                            <a:srgbClr val="E10600"/>
                          </a:solidFill>
                          <a:latin typeface="Segoe UI"/>
                        </a:defRPr>
                      </a:pPr>
                      <a:r>
                        <a:t>5 pts</a:t>
                      </a:r>
                    </a:p>
                  </a:txBody>
                  <a:tcPr>
                    <a:solidFill>
                      <a:srgbClr val="F8FAFC"/>
                    </a:solidFill>
                  </a:tcPr>
                </a:tc>
                <a:tc>
                  <a:txBody>
                    <a:bodyPr/>
                    <a:lstStyle/>
                    <a:p>
                      <a:pPr>
                        <a:defRPr sz="800" b="0">
                          <a:solidFill>
                            <a:srgbClr val="334155"/>
                          </a:solidFill>
                          <a:latin typeface="Segoe UI"/>
                        </a:defRPr>
                      </a:pPr>
                      <a:r>
                        <a:t>Driver finishes on podium (top 3) but wrong spot</a:t>
                      </a:r>
                    </a:p>
                  </a:txBody>
                  <a:tcPr>
                    <a:solidFill>
                      <a:srgbClr val="F8FAFC"/>
                    </a:solidFill>
                  </a:tcPr>
                </a:tc>
              </a:tr>
              <a:tr h="314960">
                <a:tc>
                  <a:txBody>
                    <a:bodyPr/>
                    <a:lstStyle/>
                    <a:p>
                      <a:pPr>
                        <a:defRPr sz="800" b="1">
                          <a:solidFill>
                            <a:srgbClr val="334155"/>
                          </a:solidFill>
                          <a:latin typeface="Segoe UI"/>
                        </a:defRPr>
                      </a:pPr>
                      <a:r>
                        <a:t>Perfect 1–2–3 Podium Bonus</a:t>
                      </a:r>
                    </a:p>
                  </a:txBody>
                  <a:tcPr>
                    <a:solidFill>
                      <a:srgbClr val="FFFFFF"/>
                    </a:solidFill>
                  </a:tcPr>
                </a:tc>
                <a:tc>
                  <a:txBody>
                    <a:bodyPr/>
                    <a:lstStyle/>
                    <a:p>
                      <a:pPr>
                        <a:defRPr sz="800" b="1">
                          <a:solidFill>
                            <a:srgbClr val="E10600"/>
                          </a:solidFill>
                          <a:latin typeface="Segoe UI"/>
                        </a:defRPr>
                      </a:pPr>
                      <a:r>
                        <a:t>+10 pts</a:t>
                      </a:r>
                    </a:p>
                  </a:txBody>
                  <a:tcPr>
                    <a:solidFill>
                      <a:srgbClr val="FFFFFF"/>
                    </a:solidFill>
                  </a:tcPr>
                </a:tc>
                <a:tc>
                  <a:txBody>
                    <a:bodyPr/>
                    <a:lstStyle/>
                    <a:p>
                      <a:pPr>
                        <a:defRPr sz="800" b="0">
                          <a:solidFill>
                            <a:srgbClr val="334155"/>
                          </a:solidFill>
                          <a:latin typeface="Segoe UI"/>
                        </a:defRPr>
                      </a:pPr>
                      <a:r>
                        <a:t>Exact P1, P2, and P3 predicted simultaneously</a:t>
                      </a:r>
                    </a:p>
                  </a:txBody>
                  <a:tcPr>
                    <a:solidFill>
                      <a:srgbClr val="FFFFFF"/>
                    </a:solidFill>
                  </a:tcPr>
                </a:tc>
              </a:tr>
              <a:tr h="314960">
                <a:tc>
                  <a:txBody>
                    <a:bodyPr/>
                    <a:lstStyle/>
                    <a:p>
                      <a:pPr>
                        <a:defRPr sz="800" b="1">
                          <a:solidFill>
                            <a:srgbClr val="334155"/>
                          </a:solidFill>
                          <a:latin typeface="Segoe UI"/>
                        </a:defRPr>
                      </a:pPr>
                      <a:r>
                        <a:t>Fastest Lap (FL)</a:t>
                      </a:r>
                    </a:p>
                  </a:txBody>
                  <a:tcPr>
                    <a:solidFill>
                      <a:srgbClr val="F8FAFC"/>
                    </a:solidFill>
                  </a:tcPr>
                </a:tc>
                <a:tc>
                  <a:txBody>
                    <a:bodyPr/>
                    <a:lstStyle/>
                    <a:p>
                      <a:pPr>
                        <a:defRPr sz="800" b="1">
                          <a:solidFill>
                            <a:srgbClr val="E10600"/>
                          </a:solidFill>
                          <a:latin typeface="Segoe UI"/>
                        </a:defRPr>
                      </a:pPr>
                      <a:r>
                        <a:t>10 pts</a:t>
                      </a:r>
                    </a:p>
                  </a:txBody>
                  <a:tcPr>
                    <a:solidFill>
                      <a:srgbClr val="F8FAFC"/>
                    </a:solidFill>
                  </a:tcPr>
                </a:tc>
                <a:tc>
                  <a:txBody>
                    <a:bodyPr/>
                    <a:lstStyle/>
                    <a:p>
                      <a:pPr>
                        <a:defRPr sz="800" b="0">
                          <a:solidFill>
                            <a:srgbClr val="334155"/>
                          </a:solidFill>
                          <a:latin typeface="Segoe UI"/>
                        </a:defRPr>
                      </a:pPr>
                      <a:r>
                        <a:t>Selected driver records official race fastest lap</a:t>
                      </a:r>
                    </a:p>
                  </a:txBody>
                  <a:tcPr>
                    <a:solidFill>
                      <a:srgbClr val="F8FAFC"/>
                    </a:solidFill>
                  </a:tcPr>
                </a:tc>
              </a:tr>
              <a:tr h="314960">
                <a:tc>
                  <a:txBody>
                    <a:bodyPr/>
                    <a:lstStyle/>
                    <a:p>
                      <a:pPr>
                        <a:defRPr sz="800" b="1">
                          <a:solidFill>
                            <a:srgbClr val="334155"/>
                          </a:solidFill>
                          <a:latin typeface="Segoe UI"/>
                        </a:defRPr>
                      </a:pPr>
                      <a:r>
                        <a:t>Driver of the Day (DOTD)</a:t>
                      </a:r>
                    </a:p>
                  </a:txBody>
                  <a:tcPr>
                    <a:solidFill>
                      <a:srgbClr val="FFFFFF"/>
                    </a:solidFill>
                  </a:tcPr>
                </a:tc>
                <a:tc>
                  <a:txBody>
                    <a:bodyPr/>
                    <a:lstStyle/>
                    <a:p>
                      <a:pPr>
                        <a:defRPr sz="800" b="1">
                          <a:solidFill>
                            <a:srgbClr val="E10600"/>
                          </a:solidFill>
                          <a:latin typeface="Segoe UI"/>
                        </a:defRPr>
                      </a:pPr>
                      <a:r>
                        <a:t>10 pts</a:t>
                      </a:r>
                    </a:p>
                  </a:txBody>
                  <a:tcPr>
                    <a:solidFill>
                      <a:srgbClr val="FFFFFF"/>
                    </a:solidFill>
                  </a:tcPr>
                </a:tc>
                <a:tc>
                  <a:txBody>
                    <a:bodyPr/>
                    <a:lstStyle/>
                    <a:p>
                      <a:pPr>
                        <a:defRPr sz="800" b="0">
                          <a:solidFill>
                            <a:srgbClr val="334155"/>
                          </a:solidFill>
                          <a:latin typeface="Segoe UI"/>
                        </a:defRPr>
                      </a:pPr>
                      <a:r>
                        <a:t>Selected driver wins official fan voting</a:t>
                      </a:r>
                    </a:p>
                  </a:txBody>
                  <a:tcPr>
                    <a:solidFill>
                      <a:srgbClr val="FFFFFF"/>
                    </a:solidFill>
                  </a:tcPr>
                </a:tc>
              </a:tr>
              <a:tr h="314960">
                <a:tc>
                  <a:txBody>
                    <a:bodyPr/>
                    <a:lstStyle/>
                    <a:p>
                      <a:pPr>
                        <a:defRPr sz="800" b="1">
                          <a:solidFill>
                            <a:srgbClr val="334155"/>
                          </a:solidFill>
                          <a:latin typeface="Segoe UI"/>
                        </a:defRPr>
                      </a:pPr>
                      <a:r>
                        <a:t>Wildcard Session Challenge</a:t>
                      </a:r>
                    </a:p>
                  </a:txBody>
                  <a:tcPr>
                    <a:solidFill>
                      <a:srgbClr val="F8FAFC"/>
                    </a:solidFill>
                  </a:tcPr>
                </a:tc>
                <a:tc>
                  <a:txBody>
                    <a:bodyPr/>
                    <a:lstStyle/>
                    <a:p>
                      <a:pPr>
                        <a:defRPr sz="800" b="1">
                          <a:solidFill>
                            <a:srgbClr val="E10600"/>
                          </a:solidFill>
                          <a:latin typeface="Segoe UI"/>
                        </a:defRPr>
                      </a:pPr>
                      <a:r>
                        <a:t>15 pts</a:t>
                      </a:r>
                    </a:p>
                  </a:txBody>
                  <a:tcPr>
                    <a:solidFill>
                      <a:srgbClr val="F8FAFC"/>
                    </a:solidFill>
                  </a:tcPr>
                </a:tc>
                <a:tc>
                  <a:txBody>
                    <a:bodyPr/>
                    <a:lstStyle/>
                    <a:p>
                      <a:pPr>
                        <a:defRPr sz="800" b="0">
                          <a:solidFill>
                            <a:srgbClr val="334155"/>
                          </a:solidFill>
                          <a:latin typeface="Segoe UI"/>
                        </a:defRPr>
                      </a:pPr>
                      <a:r>
                        <a:t>Correct prediction on session-specific wildcard question</a:t>
                      </a:r>
                    </a:p>
                  </a:txBody>
                  <a:tcPr>
                    <a:solidFill>
                      <a:srgbClr val="F8FAFC"/>
                    </a:solidFill>
                  </a:tcPr>
                </a:tc>
              </a:tr>
            </a:tbl>
          </a:graphicData>
        </a:graphic>
      </p:graphicFrame>
      <p:sp>
        <p:nvSpPr>
          <p:cNvPr id="15" name="Rounded Rectangle 14"/>
          <p:cNvSpPr/>
          <p:nvPr/>
        </p:nvSpPr>
        <p:spPr>
          <a:xfrm>
            <a:off x="5029200" y="4709160"/>
            <a:ext cx="6430975" cy="1508760"/>
          </a:xfrm>
          <a:prstGeom prst="roundRect">
            <a:avLst/>
          </a:prstGeom>
          <a:solidFill>
            <a:srgbClr val="FFFBE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75504" y="4818888"/>
            <a:ext cx="6138367" cy="1289304"/>
          </a:xfrm>
          <a:prstGeom prst="rect">
            <a:avLst/>
          </a:prstGeom>
          <a:noFill/>
        </p:spPr>
        <p:txBody>
          <a:bodyPr wrap="square" lIns="0" tIns="0" rIns="0" bIns="0">
            <a:spAutoFit/>
          </a:bodyPr>
          <a:lstStyle/>
          <a:p>
            <a:pPr>
              <a:spcAft>
                <a:spcPts val="300"/>
              </a:spcAft>
              <a:defRPr sz="850" b="1">
                <a:solidFill>
                  <a:srgbClr val="78350F"/>
                </a:solidFill>
                <a:latin typeface="Segoe UI"/>
              </a:defRPr>
            </a:pPr>
            <a:r>
              <a:t>⚠️  BUSINESS RULES &amp; VALIDATION CHECKPOINT</a:t>
            </a:r>
          </a:p>
          <a:p>
            <a:pPr>
              <a:defRPr sz="850">
                <a:solidFill>
                  <a:srgbClr val="78350F"/>
                </a:solidFill>
                <a:latin typeface="Segoe UI"/>
              </a:defRPr>
            </a:pPr>
            <a:r>
              <a:t>• Session Deadlines: Rounds close 5 minutes prior to official session start; strictly validated on the server.</a:t>
            </a:r>
            <a:br/>
            <a:r>
              <a:t>• Concurrency: LockService serializes simultaneous submissions during high-traffic cutoff windows.</a:t>
            </a:r>
            <a:br/>
            <a:r>
              <a:t>• Ingestion &amp; Idempotency: Official race results trigger batch scoring; verify duplicate-scoring protections in backend/Code.gs.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868680"/>
          </a:xfrm>
          <a:prstGeom prst="rect">
            <a:avLst/>
          </a:prstGeom>
          <a:noFill/>
        </p:spPr>
        <p:txBody>
          <a:bodyPr wrap="square" lIns="0" tIns="0" rIns="0" bIns="0">
            <a:spAutoFit/>
          </a:bodyPr>
          <a:lstStyle/>
          <a:p>
            <a:pPr>
              <a:spcAft>
                <a:spcPts val="200"/>
              </a:spcAft>
              <a:defRPr sz="850" b="1">
                <a:solidFill>
                  <a:srgbClr val="E10600"/>
                </a:solidFill>
                <a:latin typeface="Segoe UI"/>
              </a:defRPr>
            </a:pPr>
            <a:r>
              <a:t>SECURITY ARCHITECTURE  |  ZERO-TRUST IDENTITY &amp; ACCESS CONTROL</a:t>
            </a:r>
          </a:p>
          <a:p>
            <a:pPr>
              <a:spcAft>
                <a:spcPts val="200"/>
              </a:spcAft>
              <a:defRPr sz="2000" b="1">
                <a:solidFill>
                  <a:srgbClr val="0F172A"/>
                </a:solidFill>
                <a:latin typeface="Segoe UI"/>
              </a:defRPr>
            </a:pPr>
            <a:r>
              <a:t>Slide 7 — Authentication, Authorization, and Data Integrity</a:t>
            </a:r>
          </a:p>
          <a:p>
            <a:pPr>
              <a:defRPr sz="1050">
                <a:solidFill>
                  <a:srgbClr val="475569"/>
                </a:solidFill>
                <a:latin typeface="Segoe UI"/>
              </a:defRPr>
            </a:pPr>
            <a:r>
              <a:t>Purpose: Explain how identity, privileged access, and prediction integrity are handled.</a:t>
            </a:r>
          </a:p>
        </p:txBody>
      </p:sp>
      <p:sp>
        <p:nvSpPr>
          <p:cNvPr id="5" name="Rectangle 4"/>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10728655" cy="274320"/>
          </a:xfrm>
          <a:prstGeom prst="rect">
            <a:avLst/>
          </a:prstGeom>
          <a:noFill/>
        </p:spPr>
        <p:txBody>
          <a:bodyPr wrap="square" lIns="0" tIns="0" rIns="0" bIns="0">
            <a:spAutoFit/>
          </a:bodyPr>
          <a:lstStyle/>
          <a:p>
            <a:pPr>
              <a:defRPr sz="850">
                <a:solidFill>
                  <a:srgbClr val="94A3B8"/>
                </a:solidFill>
                <a:latin typeface="Segoe UI"/>
              </a:defRPr>
            </a:pPr>
            <a:r>
              <a:t>THE GRDX — Motorsport Prediction &amp; Community Platform  |  Technical Architecture Specification</a:t>
            </a:r>
          </a:p>
        </p:txBody>
      </p:sp>
      <p:sp>
        <p:nvSpPr>
          <p:cNvPr id="8" name="TextBox 7"/>
          <p:cNvSpPr txBox="1"/>
          <p:nvPr/>
        </p:nvSpPr>
        <p:spPr>
          <a:xfrm>
            <a:off x="9601200" y="6510528"/>
            <a:ext cx="1828800" cy="274320"/>
          </a:xfrm>
          <a:prstGeom prst="rect">
            <a:avLst/>
          </a:prstGeom>
          <a:noFill/>
        </p:spPr>
        <p:txBody>
          <a:bodyPr wrap="none" lIns="0" tIns="0" rIns="0" bIns="0">
            <a:spAutoFit/>
          </a:bodyPr>
          <a:lstStyle/>
          <a:p>
            <a:pPr algn="r">
              <a:defRPr sz="850" b="1">
                <a:solidFill>
                  <a:srgbClr val="475569"/>
                </a:solidFill>
                <a:latin typeface="Segoe UI"/>
              </a:defRPr>
            </a:pPr>
            <a:r>
              <a:t>Slide 7 of 10</a:t>
            </a:r>
          </a:p>
        </p:txBody>
      </p:sp>
      <p:sp>
        <p:nvSpPr>
          <p:cNvPr id="9" name="Rounded Rectangle 8"/>
          <p:cNvSpPr/>
          <p:nvPr/>
        </p:nvSpPr>
        <p:spPr>
          <a:xfrm>
            <a:off x="731520" y="1280160"/>
            <a:ext cx="10728655" cy="2651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89888"/>
            <a:ext cx="10399471" cy="274320"/>
          </a:xfrm>
          <a:prstGeom prst="rect">
            <a:avLst/>
          </a:prstGeom>
          <a:noFill/>
        </p:spPr>
        <p:txBody>
          <a:bodyPr wrap="square" lIns="0" tIns="0" rIns="0" bIns="0">
            <a:spAutoFit/>
          </a:bodyPr>
          <a:lstStyle/>
          <a:p>
            <a:pPr>
              <a:defRPr sz="950" b="1">
                <a:solidFill>
                  <a:srgbClr val="0F172A"/>
                </a:solidFill>
                <a:latin typeface="Segoe UI"/>
              </a:defRPr>
            </a:pPr>
            <a:r>
              <a:t>AUTHENTICATION &amp; AUTHORIZATION WORKFLOW</a:t>
            </a:r>
          </a:p>
        </p:txBody>
      </p:sp>
      <p:pic>
        <p:nvPicPr>
          <p:cNvPr id="11" name="Picture 10" descr="slide_7_auth_security.png"/>
          <p:cNvPicPr>
            <a:picLocks noChangeAspect="1"/>
          </p:cNvPicPr>
          <p:nvPr/>
        </p:nvPicPr>
        <p:blipFill>
          <a:blip r:embed="rId2"/>
          <a:stretch>
            <a:fillRect/>
          </a:stretch>
        </p:blipFill>
        <p:spPr>
          <a:xfrm>
            <a:off x="1233588" y="1645920"/>
            <a:ext cx="9724518" cy="2194560"/>
          </a:xfrm>
          <a:prstGeom prst="rect">
            <a:avLst/>
          </a:prstGeom>
        </p:spPr>
      </p:pic>
      <p:sp>
        <p:nvSpPr>
          <p:cNvPr id="12" name="Rounded Rectangle 11"/>
          <p:cNvSpPr/>
          <p:nvPr/>
        </p:nvSpPr>
        <p:spPr>
          <a:xfrm>
            <a:off x="731520" y="4069080"/>
            <a:ext cx="3474720"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178808"/>
            <a:ext cx="3145536" cy="274320"/>
          </a:xfrm>
          <a:prstGeom prst="rect">
            <a:avLst/>
          </a:prstGeom>
          <a:noFill/>
        </p:spPr>
        <p:txBody>
          <a:bodyPr wrap="square" lIns="0" tIns="0" rIns="0" bIns="0">
            <a:spAutoFit/>
          </a:bodyPr>
          <a:lstStyle/>
          <a:p>
            <a:pPr>
              <a:defRPr sz="950" b="1">
                <a:solidFill>
                  <a:srgbClr val="0F172A"/>
                </a:solidFill>
                <a:latin typeface="Segoe UI"/>
              </a:defRPr>
            </a:pPr>
            <a:r>
              <a:t>IDENTITY &amp; ACCOUNT ANCHORING</a:t>
            </a:r>
          </a:p>
        </p:txBody>
      </p:sp>
      <p:sp>
        <p:nvSpPr>
          <p:cNvPr id="14" name="TextBox 13"/>
          <p:cNvSpPr txBox="1"/>
          <p:nvPr/>
        </p:nvSpPr>
        <p:spPr>
          <a:xfrm>
            <a:off x="868680" y="4389120"/>
            <a:ext cx="3200400" cy="1737360"/>
          </a:xfrm>
          <a:prstGeom prst="rect">
            <a:avLst/>
          </a:prstGeom>
          <a:noFill/>
        </p:spPr>
        <p:txBody>
          <a:bodyPr wrap="square" lIns="0" tIns="0">
            <a:spAutoFit/>
          </a:bodyPr>
          <a:lstStyle/>
          <a:p>
            <a:pPr>
              <a:spcAft>
                <a:spcPts val="250"/>
              </a:spcAft>
              <a:defRPr sz="850" b="1">
                <a:solidFill>
                  <a:srgbClr val="0F172A"/>
                </a:solidFill>
                <a:latin typeface="Segoe UI"/>
              </a:defRPr>
            </a:pPr>
            <a:r>
              <a:t>• Zero-Trust Verification: </a:t>
            </a:r>
            <a:r>
              <a:rPr b="0">
                <a:solidFill>
                  <a:srgbClr val="334155"/>
                </a:solidFill>
              </a:rPr>
              <a:t>Browser identity claims are never trusted; backend verifies token directly with Google UserInfo API.</a:t>
            </a:r>
          </a:p>
          <a:p>
            <a:pPr>
              <a:spcAft>
                <a:spcPts val="250"/>
              </a:spcAft>
              <a:defRPr sz="850" b="1">
                <a:solidFill>
                  <a:srgbClr val="0F172A"/>
                </a:solidFill>
                <a:latin typeface="Segoe UI"/>
              </a:defRPr>
            </a:pPr>
            <a:r>
              <a:t>• Immutable Google 'sub' Anchor: </a:t>
            </a:r>
            <a:r>
              <a:rPr b="0">
                <a:solidFill>
                  <a:srgbClr val="334155"/>
                </a:solidFill>
              </a:rPr>
              <a:t>User record is permanently keyed to Google Subject ID, preventing account hijacking or duplicate profiles.</a:t>
            </a:r>
          </a:p>
          <a:p>
            <a:pPr>
              <a:spcAft>
                <a:spcPts val="250"/>
              </a:spcAft>
              <a:defRPr sz="850" b="1">
                <a:solidFill>
                  <a:srgbClr val="0F172A"/>
                </a:solidFill>
                <a:latin typeface="Segoe UI"/>
              </a:defRPr>
            </a:pPr>
            <a:r>
              <a:t>• Session State &amp; Tokens: </a:t>
            </a:r>
            <a:r>
              <a:rPr b="0">
                <a:solidFill>
                  <a:srgbClr val="334155"/>
                </a:solidFill>
              </a:rPr>
              <a:t>Client maintains authenticated state via short-lived bearer tokens and encrypted local session cache.</a:t>
            </a:r>
          </a:p>
        </p:txBody>
      </p:sp>
      <p:sp>
        <p:nvSpPr>
          <p:cNvPr id="15" name="Rounded Rectangle 14"/>
          <p:cNvSpPr/>
          <p:nvPr/>
        </p:nvSpPr>
        <p:spPr>
          <a:xfrm>
            <a:off x="4343400" y="4069080"/>
            <a:ext cx="3474720"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7992" y="4178808"/>
            <a:ext cx="3145536" cy="274320"/>
          </a:xfrm>
          <a:prstGeom prst="rect">
            <a:avLst/>
          </a:prstGeom>
          <a:noFill/>
        </p:spPr>
        <p:txBody>
          <a:bodyPr wrap="square" lIns="0" tIns="0" rIns="0" bIns="0">
            <a:spAutoFit/>
          </a:bodyPr>
          <a:lstStyle/>
          <a:p>
            <a:pPr>
              <a:defRPr sz="950" b="1">
                <a:solidFill>
                  <a:srgbClr val="0F172A"/>
                </a:solidFill>
                <a:latin typeface="Segoe UI"/>
              </a:defRPr>
            </a:pPr>
            <a:r>
              <a:t>AUTHORIZATION &amp; DATA INTEGRITY</a:t>
            </a:r>
          </a:p>
        </p:txBody>
      </p:sp>
      <p:sp>
        <p:nvSpPr>
          <p:cNvPr id="17" name="TextBox 16"/>
          <p:cNvSpPr txBox="1"/>
          <p:nvPr/>
        </p:nvSpPr>
        <p:spPr>
          <a:xfrm>
            <a:off x="4480560" y="4389120"/>
            <a:ext cx="3200400" cy="1737360"/>
          </a:xfrm>
          <a:prstGeom prst="rect">
            <a:avLst/>
          </a:prstGeom>
          <a:noFill/>
        </p:spPr>
        <p:txBody>
          <a:bodyPr wrap="square" lIns="0" tIns="0">
            <a:spAutoFit/>
          </a:bodyPr>
          <a:lstStyle/>
          <a:p>
            <a:pPr>
              <a:spcAft>
                <a:spcPts val="250"/>
              </a:spcAft>
              <a:defRPr sz="850" b="1">
                <a:solidFill>
                  <a:srgbClr val="0F172A"/>
                </a:solidFill>
                <a:latin typeface="Segoe UI"/>
              </a:defRPr>
            </a:pPr>
            <a:r>
              <a:t>• Server-Side RBAC: </a:t>
            </a:r>
            <a:r>
              <a:rPr b="0">
                <a:solidFill>
                  <a:srgbClr val="334155"/>
                </a:solidFill>
              </a:rPr>
              <a:t>Privileged operations (calendar sync, score overrides, admin tools) require verified 'admin' role in Users table.</a:t>
            </a:r>
          </a:p>
          <a:p>
            <a:pPr>
              <a:spcAft>
                <a:spcPts val="250"/>
              </a:spcAft>
              <a:defRPr sz="850" b="1">
                <a:solidFill>
                  <a:srgbClr val="0F172A"/>
                </a:solidFill>
                <a:latin typeface="Segoe UI"/>
              </a:defRPr>
            </a:pPr>
            <a:r>
              <a:t>• Server Deadline Enforcement: </a:t>
            </a:r>
            <a:r>
              <a:rPr b="0">
                <a:solidFill>
                  <a:srgbClr val="334155"/>
                </a:solidFill>
              </a:rPr>
              <a:t>Submission timestamp verified against session cutoff on Apps Script server; ignores client clock.</a:t>
            </a:r>
          </a:p>
          <a:p>
            <a:pPr>
              <a:spcAft>
                <a:spcPts val="250"/>
              </a:spcAft>
              <a:defRPr sz="850" b="1">
                <a:solidFill>
                  <a:srgbClr val="0F172A"/>
                </a:solidFill>
                <a:latin typeface="Segoe UI"/>
              </a:defRPr>
            </a:pPr>
            <a:r>
              <a:t>• Distributed Mutex (LockService): </a:t>
            </a:r>
            <a:r>
              <a:rPr b="0">
                <a:solidFill>
                  <a:srgbClr val="334155"/>
                </a:solidFill>
              </a:rPr>
              <a:t>10-second script lock prevents race conditions during user registration and high-concurrency writes.</a:t>
            </a:r>
          </a:p>
        </p:txBody>
      </p:sp>
      <p:sp>
        <p:nvSpPr>
          <p:cNvPr id="18" name="Rounded Rectangle 17"/>
          <p:cNvSpPr/>
          <p:nvPr/>
        </p:nvSpPr>
        <p:spPr>
          <a:xfrm>
            <a:off x="7955279" y="4069080"/>
            <a:ext cx="3504895" cy="2148840"/>
          </a:xfrm>
          <a:prstGeom prst="roundRect">
            <a:avLst/>
          </a:prstGeom>
          <a:solidFill>
            <a:srgbClr val="FFFBE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4178808"/>
            <a:ext cx="3212287" cy="1929384"/>
          </a:xfrm>
          <a:prstGeom prst="rect">
            <a:avLst/>
          </a:prstGeom>
          <a:noFill/>
        </p:spPr>
        <p:txBody>
          <a:bodyPr wrap="square" lIns="0" tIns="0" rIns="0" bIns="0">
            <a:spAutoFit/>
          </a:bodyPr>
          <a:lstStyle/>
          <a:p>
            <a:pPr>
              <a:spcAft>
                <a:spcPts val="300"/>
              </a:spcAft>
              <a:defRPr sz="850" b="1">
                <a:solidFill>
                  <a:srgbClr val="78350F"/>
                </a:solidFill>
                <a:latin typeface="Segoe UI"/>
              </a:defRPr>
            </a:pPr>
            <a:r>
              <a:t>⚠️  SECURITY VALIDATION CHECKPOINT</a:t>
            </a:r>
          </a:p>
          <a:p>
            <a:pPr>
              <a:defRPr sz="850">
                <a:solidFill>
                  <a:srgbClr val="78350F"/>
                </a:solidFill>
                <a:latin typeface="Segoe UI"/>
              </a:defRPr>
            </a:pPr>
            <a:r>
              <a:t>The repository describes both Google authentication and native credential-related flows. Do not label the system passwordless or Google-only without resolving that distinction in the actual implementation.</a:t>
            </a:r>
            <a:br/>
            <a:br/>
            <a:r>
              <a:t>Also verify which API operations enforce roles server-side and ensure sensitive account tokens are redacted from public leaderboard responses.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868680"/>
          </a:xfrm>
          <a:prstGeom prst="rect">
            <a:avLst/>
          </a:prstGeom>
          <a:noFill/>
        </p:spPr>
        <p:txBody>
          <a:bodyPr wrap="square" lIns="0" tIns="0" rIns="0" bIns="0">
            <a:spAutoFit/>
          </a:bodyPr>
          <a:lstStyle/>
          <a:p>
            <a:pPr>
              <a:spcAft>
                <a:spcPts val="200"/>
              </a:spcAft>
              <a:defRPr sz="850" b="1">
                <a:solidFill>
                  <a:srgbClr val="E10600"/>
                </a:solidFill>
                <a:latin typeface="Segoe UI"/>
              </a:defRPr>
            </a:pPr>
            <a:r>
              <a:t>ASYNCHRONOUS WORKFLOWS  |  NOTIFICATION INFRASTRUCTURE</a:t>
            </a:r>
          </a:p>
          <a:p>
            <a:pPr>
              <a:spcAft>
                <a:spcPts val="200"/>
              </a:spcAft>
              <a:defRPr sz="2000" b="1">
                <a:solidFill>
                  <a:srgbClr val="0F172A"/>
                </a:solidFill>
                <a:latin typeface="Segoe UI"/>
              </a:defRPr>
            </a:pPr>
            <a:r>
              <a:t>Slide 8 — Asynchronous Email Notification Architecture</a:t>
            </a:r>
          </a:p>
          <a:p>
            <a:pPr>
              <a:defRPr sz="1050">
                <a:solidFill>
                  <a:srgbClr val="475569"/>
                </a:solidFill>
                <a:latin typeface="Segoe UI"/>
              </a:defRPr>
            </a:pPr>
            <a:r>
              <a:t>Purpose: Show how email delivery can be separated from the main user-facing request via background workers.</a:t>
            </a:r>
          </a:p>
        </p:txBody>
      </p:sp>
      <p:sp>
        <p:nvSpPr>
          <p:cNvPr id="5" name="Rectangle 4"/>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10728655" cy="274320"/>
          </a:xfrm>
          <a:prstGeom prst="rect">
            <a:avLst/>
          </a:prstGeom>
          <a:noFill/>
        </p:spPr>
        <p:txBody>
          <a:bodyPr wrap="square" lIns="0" tIns="0" rIns="0" bIns="0">
            <a:spAutoFit/>
          </a:bodyPr>
          <a:lstStyle/>
          <a:p>
            <a:pPr>
              <a:defRPr sz="850">
                <a:solidFill>
                  <a:srgbClr val="94A3B8"/>
                </a:solidFill>
                <a:latin typeface="Segoe UI"/>
              </a:defRPr>
            </a:pPr>
            <a:r>
              <a:t>THE GRDX — Motorsport Prediction &amp; Community Platform  |  Technical Architecture Specification</a:t>
            </a:r>
          </a:p>
        </p:txBody>
      </p:sp>
      <p:sp>
        <p:nvSpPr>
          <p:cNvPr id="8" name="TextBox 7"/>
          <p:cNvSpPr txBox="1"/>
          <p:nvPr/>
        </p:nvSpPr>
        <p:spPr>
          <a:xfrm>
            <a:off x="9601200" y="6510528"/>
            <a:ext cx="1828800" cy="274320"/>
          </a:xfrm>
          <a:prstGeom prst="rect">
            <a:avLst/>
          </a:prstGeom>
          <a:noFill/>
        </p:spPr>
        <p:txBody>
          <a:bodyPr wrap="none" lIns="0" tIns="0" rIns="0" bIns="0">
            <a:spAutoFit/>
          </a:bodyPr>
          <a:lstStyle/>
          <a:p>
            <a:pPr algn="r">
              <a:defRPr sz="850" b="1">
                <a:solidFill>
                  <a:srgbClr val="475569"/>
                </a:solidFill>
                <a:latin typeface="Segoe UI"/>
              </a:defRPr>
            </a:pPr>
            <a:r>
              <a:t>Slide 8 of 10</a:t>
            </a:r>
          </a:p>
        </p:txBody>
      </p:sp>
      <p:sp>
        <p:nvSpPr>
          <p:cNvPr id="9" name="Rounded Rectangle 8"/>
          <p:cNvSpPr/>
          <p:nvPr/>
        </p:nvSpPr>
        <p:spPr>
          <a:xfrm>
            <a:off x="731520" y="1280160"/>
            <a:ext cx="10728655" cy="27432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89888"/>
            <a:ext cx="10399471" cy="274320"/>
          </a:xfrm>
          <a:prstGeom prst="rect">
            <a:avLst/>
          </a:prstGeom>
          <a:noFill/>
        </p:spPr>
        <p:txBody>
          <a:bodyPr wrap="square" lIns="0" tIns="0" rIns="0" bIns="0">
            <a:spAutoFit/>
          </a:bodyPr>
          <a:lstStyle/>
          <a:p>
            <a:pPr>
              <a:defRPr sz="950" b="1">
                <a:solidFill>
                  <a:srgbClr val="0F172A"/>
                </a:solidFill>
                <a:latin typeface="Segoe UI"/>
              </a:defRPr>
            </a:pPr>
            <a:r>
              <a:t>ASYNCHRONOUS EMAIL DELIVERY PIPELINE</a:t>
            </a:r>
          </a:p>
        </p:txBody>
      </p:sp>
      <p:pic>
        <p:nvPicPr>
          <p:cNvPr id="11" name="Picture 10" descr="slide_8_async_email.png"/>
          <p:cNvPicPr>
            <a:picLocks noChangeAspect="1"/>
          </p:cNvPicPr>
          <p:nvPr/>
        </p:nvPicPr>
        <p:blipFill>
          <a:blip r:embed="rId2"/>
          <a:stretch>
            <a:fillRect/>
          </a:stretch>
        </p:blipFill>
        <p:spPr>
          <a:xfrm>
            <a:off x="2160786" y="1645920"/>
            <a:ext cx="7870122" cy="2286000"/>
          </a:xfrm>
          <a:prstGeom prst="rect">
            <a:avLst/>
          </a:prstGeom>
        </p:spPr>
      </p:pic>
      <p:sp>
        <p:nvSpPr>
          <p:cNvPr id="12" name="Rounded Rectangle 11"/>
          <p:cNvSpPr/>
          <p:nvPr/>
        </p:nvSpPr>
        <p:spPr>
          <a:xfrm>
            <a:off x="731520" y="4160520"/>
            <a:ext cx="6858000"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270248"/>
            <a:ext cx="6528816" cy="274320"/>
          </a:xfrm>
          <a:prstGeom prst="rect">
            <a:avLst/>
          </a:prstGeom>
          <a:noFill/>
        </p:spPr>
        <p:txBody>
          <a:bodyPr wrap="square" lIns="0" tIns="0" rIns="0" bIns="0">
            <a:spAutoFit/>
          </a:bodyPr>
          <a:lstStyle/>
          <a:p>
            <a:pPr>
              <a:defRPr sz="950" b="1">
                <a:solidFill>
                  <a:srgbClr val="0F172A"/>
                </a:solidFill>
                <a:latin typeface="Segoe UI"/>
              </a:defRPr>
            </a:pPr>
            <a:r>
              <a:t>NOTIFICATION ARCHITECTURE &amp; OPERATIONAL DESIGN</a:t>
            </a:r>
          </a:p>
        </p:txBody>
      </p:sp>
      <p:sp>
        <p:nvSpPr>
          <p:cNvPr id="14" name="TextBox 13"/>
          <p:cNvSpPr txBox="1"/>
          <p:nvPr/>
        </p:nvSpPr>
        <p:spPr>
          <a:xfrm>
            <a:off x="868680" y="4480560"/>
            <a:ext cx="6583680" cy="1645920"/>
          </a:xfrm>
          <a:prstGeom prst="rect">
            <a:avLst/>
          </a:prstGeom>
          <a:noFill/>
        </p:spPr>
        <p:txBody>
          <a:bodyPr wrap="square" lIns="0" tIns="0">
            <a:spAutoFit/>
          </a:bodyPr>
          <a:lstStyle/>
          <a:p>
            <a:pPr>
              <a:spcAft>
                <a:spcPts val="200"/>
              </a:spcAft>
              <a:defRPr sz="850" b="1">
                <a:solidFill>
                  <a:srgbClr val="0F172A"/>
                </a:solidFill>
                <a:latin typeface="Segoe UI"/>
              </a:defRPr>
            </a:pPr>
            <a:r>
              <a:t>• Decoupled Task Enqueue: </a:t>
            </a:r>
            <a:r>
              <a:rPr b="0">
                <a:solidFill>
                  <a:srgbClr val="334155"/>
                </a:solidFill>
              </a:rPr>
              <a:t>Triggering events (account welcome, prediction receipts, scoring summaries) write a lightweight PENDING row to NotificationQueue without blocking user response.</a:t>
            </a:r>
          </a:p>
          <a:p>
            <a:pPr>
              <a:spcAft>
                <a:spcPts val="200"/>
              </a:spcAft>
              <a:defRPr sz="850" b="1">
                <a:solidFill>
                  <a:srgbClr val="0F172A"/>
                </a:solidFill>
                <a:latin typeface="Segoe UI"/>
              </a:defRPr>
            </a:pPr>
            <a:r>
              <a:t>• Time-Driven Queue Worker: </a:t>
            </a:r>
            <a:r>
              <a:rPr b="0">
                <a:solidFill>
                  <a:srgbClr val="334155"/>
                </a:solidFill>
              </a:rPr>
              <a:t>Scheduled Apps Script trigger runs periodically (every 5–10 min) executing `processNotificationQueue()` to drain pending dispatches in batches.</a:t>
            </a:r>
          </a:p>
          <a:p>
            <a:pPr>
              <a:spcAft>
                <a:spcPts val="200"/>
              </a:spcAft>
              <a:defRPr sz="850" b="1">
                <a:solidFill>
                  <a:srgbClr val="0F172A"/>
                </a:solidFill>
                <a:latin typeface="Segoe UI"/>
              </a:defRPr>
            </a:pPr>
            <a:r>
              <a:t>• Distributed Processing Lock: </a:t>
            </a:r>
            <a:r>
              <a:rPr b="0">
                <a:solidFill>
                  <a:srgbClr val="334155"/>
                </a:solidFill>
              </a:rPr>
              <a:t>Worker acquires `LockService.getScriptLock()` with a 10s timeout to prevent overlapping executions from sending duplicate emails.</a:t>
            </a:r>
          </a:p>
          <a:p>
            <a:pPr>
              <a:spcAft>
                <a:spcPts val="200"/>
              </a:spcAft>
              <a:defRPr sz="850" b="1">
                <a:solidFill>
                  <a:srgbClr val="0F172A"/>
                </a:solidFill>
                <a:latin typeface="Segoe UI"/>
              </a:defRPr>
            </a:pPr>
            <a:r>
              <a:t>• Idempotency &amp; Audit Trail: </a:t>
            </a:r>
            <a:r>
              <a:rPr b="0">
                <a:solidFill>
                  <a:srgbClr val="334155"/>
                </a:solidFill>
              </a:rPr>
              <a:t>Checks NotificationLog before sending; successful dispatches transition to SENT, logging timestamps and message IDs.</a:t>
            </a:r>
          </a:p>
          <a:p>
            <a:pPr>
              <a:spcAft>
                <a:spcPts val="200"/>
              </a:spcAft>
              <a:defRPr sz="850" b="1">
                <a:solidFill>
                  <a:srgbClr val="0F172A"/>
                </a:solidFill>
                <a:latin typeface="Segoe UI"/>
              </a:defRPr>
            </a:pPr>
            <a:r>
              <a:t>• Exponential Retries &amp; Dead-Letter: </a:t>
            </a:r>
            <a:r>
              <a:rPr b="0">
                <a:solidFill>
                  <a:srgbClr val="334155"/>
                </a:solidFill>
              </a:rPr>
              <a:t>Transient failures transition to retry queue with backoff; failures exceeding 3 attempts are marked as FAILED for manual review.</a:t>
            </a:r>
          </a:p>
        </p:txBody>
      </p:sp>
      <p:sp>
        <p:nvSpPr>
          <p:cNvPr id="15" name="Rounded Rectangle 14"/>
          <p:cNvSpPr/>
          <p:nvPr/>
        </p:nvSpPr>
        <p:spPr>
          <a:xfrm>
            <a:off x="7772400" y="4160520"/>
            <a:ext cx="3687775" cy="2057400"/>
          </a:xfrm>
          <a:prstGeom prst="roundRect">
            <a:avLst/>
          </a:prstGeom>
          <a:solidFill>
            <a:srgbClr val="FFFBE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8704" y="4270248"/>
            <a:ext cx="3395167" cy="1837944"/>
          </a:xfrm>
          <a:prstGeom prst="rect">
            <a:avLst/>
          </a:prstGeom>
          <a:noFill/>
        </p:spPr>
        <p:txBody>
          <a:bodyPr wrap="square" lIns="0" tIns="0" rIns="0" bIns="0">
            <a:spAutoFit/>
          </a:bodyPr>
          <a:lstStyle/>
          <a:p>
            <a:pPr>
              <a:spcAft>
                <a:spcPts val="300"/>
              </a:spcAft>
              <a:defRPr sz="850" b="1">
                <a:solidFill>
                  <a:srgbClr val="78350F"/>
                </a:solidFill>
                <a:latin typeface="Segoe UI"/>
              </a:defRPr>
            </a:pPr>
            <a:r>
              <a:t>⚠️  NOTIFICATION VALIDATION CHECKPOINT</a:t>
            </a:r>
          </a:p>
          <a:p>
            <a:pPr>
              <a:defRPr sz="850">
                <a:solidFill>
                  <a:srgbClr val="78350F"/>
                </a:solidFill>
                <a:latin typeface="Segoe UI"/>
              </a:defRPr>
            </a:pPr>
            <a:r>
              <a:t>The architecture documentation describes a maximum of three retries and a time-driven queue processor.</a:t>
            </a:r>
            <a:br/>
            <a:br/>
            <a:r>
              <a:t>Confirm those exact rules in the implementation before including the retry count in the final slide, and verify Google MailApp daily sending quotas (typically 100-1500 emails/day).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868680"/>
          </a:xfrm>
          <a:prstGeom prst="rect">
            <a:avLst/>
          </a:prstGeom>
          <a:noFill/>
        </p:spPr>
        <p:txBody>
          <a:bodyPr wrap="square" lIns="0" tIns="0" rIns="0" bIns="0">
            <a:spAutoFit/>
          </a:bodyPr>
          <a:lstStyle/>
          <a:p>
            <a:pPr>
              <a:spcAft>
                <a:spcPts val="200"/>
              </a:spcAft>
              <a:defRPr sz="850" b="1">
                <a:solidFill>
                  <a:srgbClr val="E10600"/>
                </a:solidFill>
                <a:latin typeface="Segoe UI"/>
              </a:defRPr>
            </a:pPr>
            <a:r>
              <a:t>DEVOPS &amp; INFRASTRUCTURE  |  DELIVERY PIPELINES</a:t>
            </a:r>
          </a:p>
          <a:p>
            <a:pPr>
              <a:spcAft>
                <a:spcPts val="200"/>
              </a:spcAft>
              <a:defRPr sz="2000" b="1">
                <a:solidFill>
                  <a:srgbClr val="0F172A"/>
                </a:solidFill>
                <a:latin typeface="Segoe UI"/>
              </a:defRPr>
            </a:pPr>
            <a:r>
              <a:t>Slide 9 — CI/CD, Hosting, and Deployment</a:t>
            </a:r>
          </a:p>
          <a:p>
            <a:pPr>
              <a:defRPr sz="1050">
                <a:solidFill>
                  <a:srgbClr val="475569"/>
                </a:solidFill>
                <a:latin typeface="Segoe UI"/>
              </a:defRPr>
            </a:pPr>
            <a:r>
              <a:t>Purpose: Explain how frontend changes become a deployed website and distinguish that process from backend deployment.</a:t>
            </a:r>
          </a:p>
        </p:txBody>
      </p:sp>
      <p:sp>
        <p:nvSpPr>
          <p:cNvPr id="5" name="Rectangle 4"/>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10728655" cy="274320"/>
          </a:xfrm>
          <a:prstGeom prst="rect">
            <a:avLst/>
          </a:prstGeom>
          <a:noFill/>
        </p:spPr>
        <p:txBody>
          <a:bodyPr wrap="square" lIns="0" tIns="0" rIns="0" bIns="0">
            <a:spAutoFit/>
          </a:bodyPr>
          <a:lstStyle/>
          <a:p>
            <a:pPr>
              <a:defRPr sz="850">
                <a:solidFill>
                  <a:srgbClr val="94A3B8"/>
                </a:solidFill>
                <a:latin typeface="Segoe UI"/>
              </a:defRPr>
            </a:pPr>
            <a:r>
              <a:t>THE GRDX — Motorsport Prediction &amp; Community Platform  |  Technical Architecture Specification</a:t>
            </a:r>
          </a:p>
        </p:txBody>
      </p:sp>
      <p:sp>
        <p:nvSpPr>
          <p:cNvPr id="8" name="TextBox 7"/>
          <p:cNvSpPr txBox="1"/>
          <p:nvPr/>
        </p:nvSpPr>
        <p:spPr>
          <a:xfrm>
            <a:off x="9601200" y="6510528"/>
            <a:ext cx="1828800" cy="274320"/>
          </a:xfrm>
          <a:prstGeom prst="rect">
            <a:avLst/>
          </a:prstGeom>
          <a:noFill/>
        </p:spPr>
        <p:txBody>
          <a:bodyPr wrap="none" lIns="0" tIns="0" rIns="0" bIns="0">
            <a:spAutoFit/>
          </a:bodyPr>
          <a:lstStyle/>
          <a:p>
            <a:pPr algn="r">
              <a:defRPr sz="850" b="1">
                <a:solidFill>
                  <a:srgbClr val="475569"/>
                </a:solidFill>
                <a:latin typeface="Segoe UI"/>
              </a:defRPr>
            </a:pPr>
            <a:r>
              <a:t>Slide 9 of 10</a:t>
            </a:r>
          </a:p>
        </p:txBody>
      </p:sp>
      <p:sp>
        <p:nvSpPr>
          <p:cNvPr id="9" name="Rounded Rectangle 8"/>
          <p:cNvSpPr/>
          <p:nvPr/>
        </p:nvSpPr>
        <p:spPr>
          <a:xfrm>
            <a:off x="731520" y="1280160"/>
            <a:ext cx="411480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89888"/>
            <a:ext cx="3785616" cy="274320"/>
          </a:xfrm>
          <a:prstGeom prst="rect">
            <a:avLst/>
          </a:prstGeom>
          <a:noFill/>
        </p:spPr>
        <p:txBody>
          <a:bodyPr wrap="square" lIns="0" tIns="0" rIns="0" bIns="0">
            <a:spAutoFit/>
          </a:bodyPr>
          <a:lstStyle/>
          <a:p>
            <a:pPr>
              <a:defRPr sz="950" b="1">
                <a:solidFill>
                  <a:srgbClr val="0F172A"/>
                </a:solidFill>
                <a:latin typeface="Segoe UI"/>
              </a:defRPr>
            </a:pPr>
            <a:r>
              <a:t>CI/CD &amp; DEPLOYMENT PIPELINE</a:t>
            </a:r>
          </a:p>
        </p:txBody>
      </p:sp>
      <p:pic>
        <p:nvPicPr>
          <p:cNvPr id="11" name="Picture 10" descr="slide_9_deployment_cicd.png"/>
          <p:cNvPicPr>
            <a:picLocks noChangeAspect="1"/>
          </p:cNvPicPr>
          <p:nvPr/>
        </p:nvPicPr>
        <p:blipFill>
          <a:blip r:embed="rId2"/>
          <a:stretch>
            <a:fillRect/>
          </a:stretch>
        </p:blipFill>
        <p:spPr>
          <a:xfrm>
            <a:off x="2170931" y="1691640"/>
            <a:ext cx="1235976" cy="4389120"/>
          </a:xfrm>
          <a:prstGeom prst="rect">
            <a:avLst/>
          </a:prstGeom>
        </p:spPr>
      </p:pic>
      <p:sp>
        <p:nvSpPr>
          <p:cNvPr id="12" name="Rounded Rectangle 11"/>
          <p:cNvSpPr/>
          <p:nvPr/>
        </p:nvSpPr>
        <p:spPr>
          <a:xfrm>
            <a:off x="5029200" y="1280160"/>
            <a:ext cx="6430975" cy="3291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93792" y="1389888"/>
            <a:ext cx="6101791" cy="274320"/>
          </a:xfrm>
          <a:prstGeom prst="rect">
            <a:avLst/>
          </a:prstGeom>
          <a:noFill/>
        </p:spPr>
        <p:txBody>
          <a:bodyPr wrap="square" lIns="0" tIns="0" rIns="0" bIns="0">
            <a:spAutoFit/>
          </a:bodyPr>
          <a:lstStyle/>
          <a:p>
            <a:pPr>
              <a:defRPr sz="950" b="1">
                <a:solidFill>
                  <a:srgbClr val="0F172A"/>
                </a:solidFill>
                <a:latin typeface="Segoe UI"/>
              </a:defRPr>
            </a:pPr>
            <a:r>
              <a:t>DEPLOYMENT PIPELINES &amp; OPERATIONAL CONCERNS</a:t>
            </a:r>
          </a:p>
        </p:txBody>
      </p:sp>
      <p:sp>
        <p:nvSpPr>
          <p:cNvPr id="14" name="TextBox 13"/>
          <p:cNvSpPr txBox="1"/>
          <p:nvPr/>
        </p:nvSpPr>
        <p:spPr>
          <a:xfrm>
            <a:off x="5166360" y="1645920"/>
            <a:ext cx="6156655" cy="2834640"/>
          </a:xfrm>
          <a:prstGeom prst="rect">
            <a:avLst/>
          </a:prstGeom>
          <a:noFill/>
        </p:spPr>
        <p:txBody>
          <a:bodyPr wrap="square" lIns="0" tIns="0">
            <a:spAutoFit/>
          </a:bodyPr>
          <a:lstStyle/>
          <a:p>
            <a:pPr>
              <a:spcAft>
                <a:spcPts val="350"/>
              </a:spcAft>
              <a:defRPr sz="850" b="1">
                <a:solidFill>
                  <a:srgbClr val="0F172A"/>
                </a:solidFill>
                <a:latin typeface="Segoe UI"/>
              </a:defRPr>
            </a:pPr>
            <a:r>
              <a:t>• Automated Frontend CI/CD Pipeline (GitHub Actions): </a:t>
            </a:r>
            <a:r>
              <a:rPr b="0">
                <a:solidFill>
                  <a:srgbClr val="334155"/>
                </a:solidFill>
              </a:rPr>
              <a:t>Defined in `.github/workflows/deploy.yml`. Triggered automatically on push to `main` branch. Executes end-to-end static build sequence.</a:t>
            </a:r>
          </a:p>
          <a:p>
            <a:pPr>
              <a:spcAft>
                <a:spcPts val="350"/>
              </a:spcAft>
              <a:defRPr sz="850" b="1">
                <a:solidFill>
                  <a:srgbClr val="0F172A"/>
                </a:solidFill>
                <a:latin typeface="Segoe UI"/>
              </a:defRPr>
            </a:pPr>
            <a:r>
              <a:t>• Pre-Build Calendar &amp; Circuit Generation: </a:t>
            </a:r>
            <a:r>
              <a:rPr b="0">
                <a:solidFill>
                  <a:srgbClr val="334155"/>
                </a:solidFill>
              </a:rPr>
              <a:t>`npx tsx scripts/generate-calendar.ts` generates standardized race schedules and dynamic SVG circuit track layouts.</a:t>
            </a:r>
          </a:p>
          <a:p>
            <a:pPr>
              <a:spcAft>
                <a:spcPts val="350"/>
              </a:spcAft>
              <a:defRPr sz="850" b="1">
                <a:solidFill>
                  <a:srgbClr val="0F172A"/>
                </a:solidFill>
                <a:latin typeface="Segoe UI"/>
              </a:defRPr>
            </a:pPr>
            <a:r>
              <a:t>• Strict TypeScript &amp; Vite Compilation: </a:t>
            </a:r>
            <a:r>
              <a:rPr b="0">
                <a:solidFill>
                  <a:srgbClr val="334155"/>
                </a:solidFill>
              </a:rPr>
              <a:t>Runs `tsc -b` for full project type checking followed by `vite build` to generate optimized production bundles.</a:t>
            </a:r>
          </a:p>
          <a:p>
            <a:pPr>
              <a:spcAft>
                <a:spcPts val="350"/>
              </a:spcAft>
              <a:defRPr sz="850" b="1">
                <a:solidFill>
                  <a:srgbClr val="0F172A"/>
                </a:solidFill>
                <a:latin typeface="Segoe UI"/>
              </a:defRPr>
            </a:pPr>
            <a:r>
              <a:t>• Edge CDN Hosting (GitHub Pages): </a:t>
            </a:r>
            <a:r>
              <a:rPr b="0">
                <a:solidFill>
                  <a:srgbClr val="334155"/>
                </a:solidFill>
              </a:rPr>
              <a:t>Pushes compiled `/dist` directory to `gh-pages` branch, serving users via GitHub Pages global CDN edge.</a:t>
            </a:r>
          </a:p>
          <a:p>
            <a:pPr>
              <a:spcAft>
                <a:spcPts val="350"/>
              </a:spcAft>
              <a:defRPr sz="850" b="1">
                <a:solidFill>
                  <a:srgbClr val="0F172A"/>
                </a:solidFill>
                <a:latin typeface="Segoe UI"/>
              </a:defRPr>
            </a:pPr>
            <a:r>
              <a:t>• Independent Backend Deployment Boundary: </a:t>
            </a:r>
            <a:r>
              <a:rPr b="0">
                <a:solidFill>
                  <a:srgbClr val="334155"/>
                </a:solidFill>
              </a:rPr>
              <a:t>Apps Script backend (`backend/Code.gs`) is an independent deployment. Publishing the frontend DOES NOT automatically update or deploy the live Apps Script backend version.</a:t>
            </a:r>
          </a:p>
          <a:p>
            <a:pPr>
              <a:spcAft>
                <a:spcPts val="350"/>
              </a:spcAft>
              <a:defRPr sz="850" b="1">
                <a:solidFill>
                  <a:srgbClr val="0F172A"/>
                </a:solidFill>
                <a:latin typeface="Segoe UI"/>
              </a:defRPr>
            </a:pPr>
            <a:r>
              <a:t>• SPA Client-Side Routing Fallback: </a:t>
            </a:r>
            <a:r>
              <a:rPr b="0">
                <a:solidFill>
                  <a:srgbClr val="334155"/>
                </a:solidFill>
              </a:rPr>
              <a:t>GitHub Pages requires a custom 404 redirection script (`404.html`) to preserve HTML5 client-side routes on refresh.</a:t>
            </a:r>
          </a:p>
        </p:txBody>
      </p:sp>
      <p:sp>
        <p:nvSpPr>
          <p:cNvPr id="15" name="Rounded Rectangle 14"/>
          <p:cNvSpPr/>
          <p:nvPr/>
        </p:nvSpPr>
        <p:spPr>
          <a:xfrm>
            <a:off x="5029200" y="4709160"/>
            <a:ext cx="6430975" cy="1508760"/>
          </a:xfrm>
          <a:prstGeom prst="roundRect">
            <a:avLst/>
          </a:prstGeom>
          <a:solidFill>
            <a:srgbClr val="FFFBE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75504" y="4818888"/>
            <a:ext cx="6138367" cy="1289304"/>
          </a:xfrm>
          <a:prstGeom prst="rect">
            <a:avLst/>
          </a:prstGeom>
          <a:noFill/>
        </p:spPr>
        <p:txBody>
          <a:bodyPr wrap="square" lIns="0" tIns="0" rIns="0" bIns="0">
            <a:spAutoFit/>
          </a:bodyPr>
          <a:lstStyle/>
          <a:p>
            <a:pPr>
              <a:spcAft>
                <a:spcPts val="300"/>
              </a:spcAft>
              <a:defRPr sz="850" b="1">
                <a:solidFill>
                  <a:srgbClr val="78350F"/>
                </a:solidFill>
                <a:latin typeface="Segoe UI"/>
              </a:defRPr>
            </a:pPr>
            <a:r>
              <a:t>⚠️  DEPLOYMENT VERIFICATION CHECKPOINT</a:t>
            </a:r>
          </a:p>
          <a:p>
            <a:pPr>
              <a:defRPr sz="850">
                <a:solidFill>
                  <a:srgbClr val="78350F"/>
                </a:solidFill>
                <a:latin typeface="Segoe UI"/>
              </a:defRPr>
            </a:pPr>
            <a:r>
              <a:t>The frontend deployment pipeline and backend release process are separate. Confirm the actual workflow triggers, required checks, deployment credentials, and whether backend deployment is automated or manual before claiming end-to-end CI/CD.</a:t>
            </a:r>
            <a:br/>
            <a:br/>
            <a:r>
              <a:t>A green frontend build does not prove the Apps Script endpoint is current.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868680"/>
          </a:xfrm>
          <a:prstGeom prst="rect">
            <a:avLst/>
          </a:prstGeom>
          <a:noFill/>
        </p:spPr>
        <p:txBody>
          <a:bodyPr wrap="square" lIns="0" tIns="0" rIns="0" bIns="0">
            <a:spAutoFit/>
          </a:bodyPr>
          <a:lstStyle/>
          <a:p>
            <a:pPr>
              <a:spcAft>
                <a:spcPts val="200"/>
              </a:spcAft>
              <a:defRPr sz="850" b="1">
                <a:solidFill>
                  <a:srgbClr val="E10600"/>
                </a:solidFill>
                <a:latin typeface="Segoe UI"/>
              </a:defRPr>
            </a:pPr>
            <a:r>
              <a:t>ENGINEERING DISCIPLINE  |  ARCHITECTURAL TRADE-OFFS</a:t>
            </a:r>
          </a:p>
          <a:p>
            <a:pPr>
              <a:spcAft>
                <a:spcPts val="200"/>
              </a:spcAft>
              <a:defRPr sz="2000" b="1">
                <a:solidFill>
                  <a:srgbClr val="0F172A"/>
                </a:solidFill>
                <a:latin typeface="Segoe UI"/>
              </a:defRPr>
            </a:pPr>
            <a:r>
              <a:t>Slide 10 — Reliability, Limitations, and Engineering Considerations</a:t>
            </a:r>
          </a:p>
          <a:p>
            <a:pPr>
              <a:defRPr sz="1050">
                <a:solidFill>
                  <a:srgbClr val="475569"/>
                </a:solidFill>
                <a:latin typeface="Segoe UI"/>
              </a:defRPr>
            </a:pPr>
            <a:r>
              <a:t>Purpose: Demonstrate that you understand architectural trade-offs and operational limits, not just the feature set.</a:t>
            </a:r>
          </a:p>
        </p:txBody>
      </p:sp>
      <p:sp>
        <p:nvSpPr>
          <p:cNvPr id="5" name="Rectangle 4"/>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10728655" cy="274320"/>
          </a:xfrm>
          <a:prstGeom prst="rect">
            <a:avLst/>
          </a:prstGeom>
          <a:noFill/>
        </p:spPr>
        <p:txBody>
          <a:bodyPr wrap="square" lIns="0" tIns="0" rIns="0" bIns="0">
            <a:spAutoFit/>
          </a:bodyPr>
          <a:lstStyle/>
          <a:p>
            <a:pPr>
              <a:defRPr sz="850">
                <a:solidFill>
                  <a:srgbClr val="94A3B8"/>
                </a:solidFill>
                <a:latin typeface="Segoe UI"/>
              </a:defRPr>
            </a:pPr>
            <a:r>
              <a:t>THE GRDX — Motorsport Prediction &amp; Community Platform  |  Technical Architecture Specification</a:t>
            </a:r>
          </a:p>
        </p:txBody>
      </p:sp>
      <p:sp>
        <p:nvSpPr>
          <p:cNvPr id="8" name="TextBox 7"/>
          <p:cNvSpPr txBox="1"/>
          <p:nvPr/>
        </p:nvSpPr>
        <p:spPr>
          <a:xfrm>
            <a:off x="9601200" y="6510528"/>
            <a:ext cx="1828800" cy="274320"/>
          </a:xfrm>
          <a:prstGeom prst="rect">
            <a:avLst/>
          </a:prstGeom>
          <a:noFill/>
        </p:spPr>
        <p:txBody>
          <a:bodyPr wrap="none" lIns="0" tIns="0" rIns="0" bIns="0">
            <a:spAutoFit/>
          </a:bodyPr>
          <a:lstStyle/>
          <a:p>
            <a:pPr algn="r">
              <a:defRPr sz="850" b="1">
                <a:solidFill>
                  <a:srgbClr val="475569"/>
                </a:solidFill>
                <a:latin typeface="Segoe UI"/>
              </a:defRPr>
            </a:pPr>
            <a:r>
              <a:t>Slide 10 of 10</a:t>
            </a:r>
          </a:p>
        </p:txBody>
      </p:sp>
      <p:sp>
        <p:nvSpPr>
          <p:cNvPr id="9" name="Rounded Rectangle 8"/>
          <p:cNvSpPr/>
          <p:nvPr/>
        </p:nvSpPr>
        <p:spPr>
          <a:xfrm>
            <a:off x="731520" y="1280160"/>
            <a:ext cx="4114800"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89888"/>
            <a:ext cx="3785616" cy="274320"/>
          </a:xfrm>
          <a:prstGeom prst="rect">
            <a:avLst/>
          </a:prstGeom>
          <a:noFill/>
        </p:spPr>
        <p:txBody>
          <a:bodyPr wrap="square" lIns="0" tIns="0" rIns="0" bIns="0">
            <a:spAutoFit/>
          </a:bodyPr>
          <a:lstStyle/>
          <a:p>
            <a:pPr>
              <a:defRPr sz="950" b="1">
                <a:solidFill>
                  <a:srgbClr val="0F172A"/>
                </a:solidFill>
                <a:latin typeface="Segoe UI"/>
              </a:defRPr>
            </a:pPr>
            <a:r>
              <a:t>RISKS VS MITIGATING CONTROLS MAP</a:t>
            </a:r>
          </a:p>
        </p:txBody>
      </p:sp>
      <p:pic>
        <p:nvPicPr>
          <p:cNvPr id="11" name="Picture 10" descr="slide_10_engineering_considerations.png"/>
          <p:cNvPicPr>
            <a:picLocks noChangeAspect="1"/>
          </p:cNvPicPr>
          <p:nvPr/>
        </p:nvPicPr>
        <p:blipFill>
          <a:blip r:embed="rId2"/>
          <a:stretch>
            <a:fillRect/>
          </a:stretch>
        </p:blipFill>
        <p:spPr>
          <a:xfrm>
            <a:off x="868680" y="2107840"/>
            <a:ext cx="3840480" cy="3556719"/>
          </a:xfrm>
          <a:prstGeom prst="rect">
            <a:avLst/>
          </a:prstGeom>
        </p:spPr>
      </p:pic>
      <p:sp>
        <p:nvSpPr>
          <p:cNvPr id="12" name="Rounded Rectangle 11"/>
          <p:cNvSpPr/>
          <p:nvPr/>
        </p:nvSpPr>
        <p:spPr>
          <a:xfrm>
            <a:off x="5029200" y="1280160"/>
            <a:ext cx="6430975" cy="3291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93792" y="1389888"/>
            <a:ext cx="6101791" cy="274320"/>
          </a:xfrm>
          <a:prstGeom prst="rect">
            <a:avLst/>
          </a:prstGeom>
          <a:noFill/>
        </p:spPr>
        <p:txBody>
          <a:bodyPr wrap="square" lIns="0" tIns="0" rIns="0" bIns="0">
            <a:spAutoFit/>
          </a:bodyPr>
          <a:lstStyle/>
          <a:p>
            <a:pPr>
              <a:defRPr sz="950" b="1">
                <a:solidFill>
                  <a:srgbClr val="0F172A"/>
                </a:solidFill>
                <a:latin typeface="Segoe UI"/>
              </a:defRPr>
            </a:pPr>
            <a:r>
              <a:t>KEY ARCHITECTURAL TRADE-OFFS &amp; OPERATIONAL REALITIES</a:t>
            </a:r>
          </a:p>
        </p:txBody>
      </p:sp>
      <p:graphicFrame>
        <p:nvGraphicFramePr>
          <p:cNvPr id="14" name="Table 13"/>
          <p:cNvGraphicFramePr>
            <a:graphicFrameLocks noGrp="1"/>
          </p:cNvGraphicFramePr>
          <p:nvPr/>
        </p:nvGraphicFramePr>
        <p:xfrm>
          <a:off x="5166360" y="1600200"/>
          <a:ext cx="6156655" cy="2834640"/>
        </p:xfrm>
        <a:graphic>
          <a:graphicData uri="http://schemas.openxmlformats.org/drawingml/2006/table">
            <a:tbl>
              <a:tblPr firstRow="1" bandRow="1">
                <a:tableStyleId>{5C22544A-7EE6-4342-B048-85BDC9FD1C3A}</a:tableStyleId>
              </a:tblPr>
              <a:tblGrid>
                <a:gridCol w="2377440"/>
                <a:gridCol w="3779215"/>
              </a:tblGrid>
              <a:tr h="472440">
                <a:tc>
                  <a:txBody>
                    <a:bodyPr/>
                    <a:lstStyle/>
                    <a:p>
                      <a:pPr>
                        <a:defRPr sz="850" b="1">
                          <a:solidFill>
                            <a:srgbClr val="FFFFFF"/>
                          </a:solidFill>
                          <a:latin typeface="Segoe UI"/>
                        </a:defRPr>
                      </a:pPr>
                      <a:r>
                        <a:t>Architectural Advantage</a:t>
                      </a:r>
                    </a:p>
                  </a:txBody>
                  <a:tcPr>
                    <a:solidFill>
                      <a:srgbClr val="1E293B"/>
                    </a:solidFill>
                  </a:tcPr>
                </a:tc>
                <a:tc>
                  <a:txBody>
                    <a:bodyPr/>
                    <a:lstStyle/>
                    <a:p>
                      <a:pPr>
                        <a:defRPr sz="850" b="1">
                          <a:solidFill>
                            <a:srgbClr val="FFFFFF"/>
                          </a:solidFill>
                          <a:latin typeface="Segoe UI"/>
                        </a:defRPr>
                      </a:pPr>
                      <a:r>
                        <a:t>Engineering Consideration &amp; Trade-off</a:t>
                      </a:r>
                    </a:p>
                  </a:txBody>
                  <a:tcPr>
                    <a:solidFill>
                      <a:srgbClr val="1E293B"/>
                    </a:solidFill>
                  </a:tcPr>
                </a:tc>
              </a:tr>
              <a:tr h="472440">
                <a:tc>
                  <a:txBody>
                    <a:bodyPr/>
                    <a:lstStyle/>
                    <a:p>
                      <a:pPr>
                        <a:defRPr sz="800" b="1">
                          <a:solidFill>
                            <a:srgbClr val="0F172A"/>
                          </a:solidFill>
                          <a:latin typeface="Segoe UI"/>
                        </a:defRPr>
                      </a:pPr>
                      <a:r>
                        <a:t>Low infrastructure overhead &amp; zero cost</a:t>
                      </a:r>
                    </a:p>
                  </a:txBody>
                  <a:tcPr>
                    <a:solidFill>
                      <a:srgbClr val="FFFFFF"/>
                    </a:solidFill>
                  </a:tcPr>
                </a:tc>
                <a:tc>
                  <a:txBody>
                    <a:bodyPr/>
                    <a:lstStyle/>
                    <a:p>
                      <a:pPr>
                        <a:defRPr sz="800" b="0">
                          <a:solidFill>
                            <a:srgbClr val="334155"/>
                          </a:solidFill>
                          <a:latin typeface="Segoe UI"/>
                        </a:defRPr>
                      </a:pPr>
                      <a:r>
                        <a:t>Apps Script quotas apply: 6-min execution timeouts, daily email limits, and invocation caps.</a:t>
                      </a:r>
                    </a:p>
                  </a:txBody>
                  <a:tcPr>
                    <a:solidFill>
                      <a:srgbClr val="FFFFFF"/>
                    </a:solidFill>
                  </a:tcPr>
                </a:tc>
              </a:tr>
              <a:tr h="472440">
                <a:tc>
                  <a:txBody>
                    <a:bodyPr/>
                    <a:lstStyle/>
                    <a:p>
                      <a:pPr>
                        <a:defRPr sz="800" b="1">
                          <a:solidFill>
                            <a:srgbClr val="0F172A"/>
                          </a:solidFill>
                          <a:latin typeface="Segoe UI"/>
                        </a:defRPr>
                      </a:pPr>
                      <a:r>
                        <a:t>Google Sheets is easy to inspect &amp; audit</a:t>
                      </a:r>
                    </a:p>
                  </a:txBody>
                  <a:tcPr>
                    <a:solidFill>
                      <a:srgbClr val="F8FAFC"/>
                    </a:solidFill>
                  </a:tcPr>
                </a:tc>
                <a:tc>
                  <a:txBody>
                    <a:bodyPr/>
                    <a:lstStyle/>
                    <a:p>
                      <a:pPr>
                        <a:defRPr sz="800" b="0">
                          <a:solidFill>
                            <a:srgbClr val="334155"/>
                          </a:solidFill>
                          <a:latin typeface="Segoe UI"/>
                        </a:defRPr>
                      </a:pPr>
                      <a:r>
                        <a:t>No relational foreign keys or ACID guarantees; relational integrity must be enforced in code.</a:t>
                      </a:r>
                    </a:p>
                  </a:txBody>
                  <a:tcPr>
                    <a:solidFill>
                      <a:srgbClr val="F8FAFC"/>
                    </a:solidFill>
                  </a:tcPr>
                </a:tc>
              </a:tr>
              <a:tr h="472440">
                <a:tc>
                  <a:txBody>
                    <a:bodyPr/>
                    <a:lstStyle/>
                    <a:p>
                      <a:pPr>
                        <a:defRPr sz="800" b="1">
                          <a:solidFill>
                            <a:srgbClr val="0F172A"/>
                          </a:solidFill>
                          <a:latin typeface="Segoe UI"/>
                        </a:defRPr>
                      </a:pPr>
                      <a:r>
                        <a:t>Static Edge CDN frontend hosting</a:t>
                      </a:r>
                    </a:p>
                  </a:txBody>
                  <a:tcPr>
                    <a:solidFill>
                      <a:srgbClr val="FFFFFF"/>
                    </a:solidFill>
                  </a:tcPr>
                </a:tc>
                <a:tc>
                  <a:txBody>
                    <a:bodyPr/>
                    <a:lstStyle/>
                    <a:p>
                      <a:pPr>
                        <a:defRPr sz="800" b="0">
                          <a:solidFill>
                            <a:srgbClr val="334155"/>
                          </a:solidFill>
                          <a:latin typeface="Segoe UI"/>
                        </a:defRPr>
                      </a:pPr>
                      <a:r>
                        <a:t>Frontend depends on separately configured backend Web App URL; cross-origin latency applies.</a:t>
                      </a:r>
                    </a:p>
                  </a:txBody>
                  <a:tcPr>
                    <a:solidFill>
                      <a:srgbClr val="FFFFFF"/>
                    </a:solidFill>
                  </a:tcPr>
                </a:tc>
              </a:tr>
              <a:tr h="472440">
                <a:tc>
                  <a:txBody>
                    <a:bodyPr/>
                    <a:lstStyle/>
                    <a:p>
                      <a:pPr>
                        <a:defRPr sz="800" b="1">
                          <a:solidFill>
                            <a:srgbClr val="0F172A"/>
                          </a:solidFill>
                          <a:latin typeface="Segoe UI"/>
                        </a:defRPr>
                      </a:pPr>
                      <a:r>
                        <a:t>External motorsport data (Jolpica)</a:t>
                      </a:r>
                    </a:p>
                  </a:txBody>
                  <a:tcPr>
                    <a:solidFill>
                      <a:srgbClr val="F8FAFC"/>
                    </a:solidFill>
                  </a:tcPr>
                </a:tc>
                <a:tc>
                  <a:txBody>
                    <a:bodyPr/>
                    <a:lstStyle/>
                    <a:p>
                      <a:pPr>
                        <a:defRPr sz="800" b="0">
                          <a:solidFill>
                            <a:srgbClr val="334155"/>
                          </a:solidFill>
                          <a:latin typeface="Segoe UI"/>
                        </a:defRPr>
                      </a:pPr>
                      <a:r>
                        <a:t>Upstream API outages and last-minute schedule changes affect freshness; requires client cache.</a:t>
                      </a:r>
                    </a:p>
                  </a:txBody>
                  <a:tcPr>
                    <a:solidFill>
                      <a:srgbClr val="F8FAFC"/>
                    </a:solidFill>
                  </a:tcPr>
                </a:tc>
              </a:tr>
              <a:tr h="472440">
                <a:tc>
                  <a:txBody>
                    <a:bodyPr/>
                    <a:lstStyle/>
                    <a:p>
                      <a:pPr>
                        <a:defRPr sz="800" b="1">
                          <a:solidFill>
                            <a:srgbClr val="0F172A"/>
                          </a:solidFill>
                          <a:latin typeface="Segoe UI"/>
                        </a:defRPr>
                      </a:pPr>
                      <a:r>
                        <a:t>Client-side fallback capability</a:t>
                      </a:r>
                    </a:p>
                  </a:txBody>
                  <a:tcPr>
                    <a:solidFill>
                      <a:srgbClr val="FFFFFF"/>
                    </a:solidFill>
                  </a:tcPr>
                </a:tc>
                <a:tc>
                  <a:txBody>
                    <a:bodyPr/>
                    <a:lstStyle/>
                    <a:p>
                      <a:pPr>
                        <a:defRPr sz="800" b="0">
                          <a:solidFill>
                            <a:srgbClr val="334155"/>
                          </a:solidFill>
                          <a:latin typeface="Segoe UI"/>
                        </a:defRPr>
                      </a:pPr>
                      <a:r>
                        <a:t>Users may see simulated rather than live data if fallback behavior is not clearly signaled in the UI.</a:t>
                      </a:r>
                    </a:p>
                  </a:txBody>
                  <a:tcPr>
                    <a:solidFill>
                      <a:srgbClr val="FFFFFF"/>
                    </a:solidFill>
                  </a:tcPr>
                </a:tc>
              </a:tr>
            </a:tbl>
          </a:graphicData>
        </a:graphic>
      </p:graphicFrame>
      <p:sp>
        <p:nvSpPr>
          <p:cNvPr id="15" name="Rounded Rectangle 14"/>
          <p:cNvSpPr/>
          <p:nvPr/>
        </p:nvSpPr>
        <p:spPr>
          <a:xfrm>
            <a:off x="5029200" y="4709160"/>
            <a:ext cx="6430975" cy="1508760"/>
          </a:xfrm>
          <a:prstGeom prst="roundRect">
            <a:avLst/>
          </a:prstGeom>
          <a:solidFill>
            <a:srgbClr val="FFFBE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75504" y="4818888"/>
            <a:ext cx="6138367" cy="1289304"/>
          </a:xfrm>
          <a:prstGeom prst="rect">
            <a:avLst/>
          </a:prstGeom>
          <a:noFill/>
        </p:spPr>
        <p:txBody>
          <a:bodyPr wrap="square" lIns="0" tIns="0" rIns="0" bIns="0">
            <a:spAutoFit/>
          </a:bodyPr>
          <a:lstStyle/>
          <a:p>
            <a:pPr>
              <a:spcAft>
                <a:spcPts val="300"/>
              </a:spcAft>
              <a:defRPr sz="850" b="1">
                <a:solidFill>
                  <a:srgbClr val="78350F"/>
                </a:solidFill>
                <a:latin typeface="Segoe UI"/>
              </a:defRPr>
            </a:pPr>
            <a:r>
              <a:t>⚠️  ENGINEERING CHECKLIST BEFORE PRODUCTION RELEASE</a:t>
            </a:r>
          </a:p>
          <a:p>
            <a:pPr>
              <a:defRPr sz="850">
                <a:solidFill>
                  <a:srgbClr val="78350F"/>
                </a:solidFill>
                <a:latin typeface="Segoe UI"/>
              </a:defRPr>
            </a:pPr>
            <a:r>
              <a:t>These are engineering considerations, not claims that every failure mode is already mitigated. In particular, verify:</a:t>
            </a:r>
            <a:br/>
            <a:r>
              <a:t>1. Physical worksheet schema in backend/SetupSheet.gs  |  2. Auth paths &amp; server-side RBAC in backend/Code.gs</a:t>
            </a:r>
            <a:br/>
            <a:r>
              <a:t>3. Mock-data fallback UI indicators  |  4. Deadline &amp; scoring rules  |  5. Notification retries &amp; deduplication.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0728655" cy="868680"/>
          </a:xfrm>
          <a:prstGeom prst="rect">
            <a:avLst/>
          </a:prstGeom>
          <a:noFill/>
        </p:spPr>
        <p:txBody>
          <a:bodyPr wrap="square" lIns="0" tIns="0" rIns="0" bIns="0">
            <a:spAutoFit/>
          </a:bodyPr>
          <a:lstStyle/>
          <a:p>
            <a:pPr>
              <a:spcAft>
                <a:spcPts val="200"/>
              </a:spcAft>
              <a:defRPr sz="850" b="1">
                <a:solidFill>
                  <a:srgbClr val="E10600"/>
                </a:solidFill>
                <a:latin typeface="Segoe UI"/>
              </a:defRPr>
            </a:pPr>
            <a:r>
              <a:t>EXECUTIVE SUMMARY  |  PRODUCTION READINESS</a:t>
            </a:r>
          </a:p>
          <a:p>
            <a:pPr>
              <a:spcAft>
                <a:spcPts val="200"/>
              </a:spcAft>
              <a:defRPr sz="2000" b="1">
                <a:solidFill>
                  <a:srgbClr val="0F172A"/>
                </a:solidFill>
                <a:latin typeface="Segoe UI"/>
              </a:defRPr>
            </a:pPr>
            <a:r>
              <a:t>Architectural Synthesis &amp; Production Hardening</a:t>
            </a:r>
          </a:p>
          <a:p>
            <a:pPr>
              <a:defRPr sz="1050">
                <a:solidFill>
                  <a:srgbClr val="475569"/>
                </a:solidFill>
                <a:latin typeface="Segoe UI"/>
              </a:defRPr>
            </a:pPr>
            <a:r>
              <a:t>Summary of architectural strengths, verified operational guarantees, and recommended roadmap milestones.</a:t>
            </a:r>
          </a:p>
        </p:txBody>
      </p:sp>
      <p:sp>
        <p:nvSpPr>
          <p:cNvPr id="5" name="Rectangle 4"/>
          <p:cNvSpPr/>
          <p:nvPr/>
        </p:nvSpPr>
        <p:spPr>
          <a:xfrm>
            <a:off x="731520" y="11155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47395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10528"/>
            <a:ext cx="10728655" cy="274320"/>
          </a:xfrm>
          <a:prstGeom prst="rect">
            <a:avLst/>
          </a:prstGeom>
          <a:noFill/>
        </p:spPr>
        <p:txBody>
          <a:bodyPr wrap="square" lIns="0" tIns="0" rIns="0" bIns="0">
            <a:spAutoFit/>
          </a:bodyPr>
          <a:lstStyle/>
          <a:p>
            <a:pPr>
              <a:defRPr sz="850">
                <a:solidFill>
                  <a:srgbClr val="94A3B8"/>
                </a:solidFill>
                <a:latin typeface="Segoe UI"/>
              </a:defRPr>
            </a:pPr>
            <a:r>
              <a:t>THE GRDX — Motorsport Prediction &amp; Community Platform  |  Technical Architecture Specification</a:t>
            </a:r>
          </a:p>
        </p:txBody>
      </p:sp>
      <p:sp>
        <p:nvSpPr>
          <p:cNvPr id="8" name="TextBox 7"/>
          <p:cNvSpPr txBox="1"/>
          <p:nvPr/>
        </p:nvSpPr>
        <p:spPr>
          <a:xfrm>
            <a:off x="9601200" y="6510528"/>
            <a:ext cx="1828800" cy="274320"/>
          </a:xfrm>
          <a:prstGeom prst="rect">
            <a:avLst/>
          </a:prstGeom>
          <a:noFill/>
        </p:spPr>
        <p:txBody>
          <a:bodyPr wrap="none" lIns="0" tIns="0" rIns="0" bIns="0">
            <a:spAutoFit/>
          </a:bodyPr>
          <a:lstStyle/>
          <a:p>
            <a:pPr algn="r">
              <a:defRPr sz="850" b="1">
                <a:solidFill>
                  <a:srgbClr val="475569"/>
                </a:solidFill>
                <a:latin typeface="Segoe UI"/>
              </a:defRPr>
            </a:pPr>
            <a:r>
              <a:t>Slide Summary of 10</a:t>
            </a:r>
          </a:p>
        </p:txBody>
      </p:sp>
      <p:sp>
        <p:nvSpPr>
          <p:cNvPr id="9" name="Rounded Rectangle 8"/>
          <p:cNvSpPr/>
          <p:nvPr/>
        </p:nvSpPr>
        <p:spPr>
          <a:xfrm>
            <a:off x="731520" y="1280160"/>
            <a:ext cx="3328416"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298448"/>
            <a:ext cx="3291840" cy="7315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463040"/>
            <a:ext cx="2962656" cy="4617720"/>
          </a:xfrm>
          <a:prstGeom prst="rect">
            <a:avLst/>
          </a:prstGeom>
          <a:noFill/>
        </p:spPr>
        <p:txBody>
          <a:bodyPr wrap="square" lIns="0" tIns="0">
            <a:spAutoFit/>
          </a:bodyPr>
          <a:lstStyle/>
          <a:p>
            <a:pPr>
              <a:spcAft>
                <a:spcPts val="1200"/>
              </a:spcAft>
              <a:defRPr sz="1000" b="1">
                <a:solidFill>
                  <a:srgbClr val="16A34A"/>
                </a:solidFill>
                <a:latin typeface="Segoe UI"/>
              </a:defRPr>
            </a:pPr>
            <a:r>
              <a:t>CORE ARCHITECTURAL STRENGTHS</a:t>
            </a:r>
          </a:p>
          <a:p>
            <a:pPr>
              <a:spcAft>
                <a:spcPts val="800"/>
              </a:spcAft>
              <a:defRPr sz="850" b="1">
                <a:solidFill>
                  <a:srgbClr val="0F172A"/>
                </a:solidFill>
                <a:latin typeface="Segoe UI"/>
              </a:defRPr>
            </a:pPr>
            <a:r>
              <a:t>• Serverless &amp; Zero Fixed Overhead: </a:t>
            </a:r>
            <a:r>
              <a:rPr b="0">
                <a:solidFill>
                  <a:srgbClr val="334155"/>
                </a:solidFill>
              </a:rPr>
              <a:t>Static SPA on Edge CDN paired with GCP V8 Apps Script serverless backend eliminates infrastructure maintenance costs.</a:t>
            </a:r>
          </a:p>
          <a:p>
            <a:pPr>
              <a:spcAft>
                <a:spcPts val="800"/>
              </a:spcAft>
              <a:defRPr sz="850" b="1">
                <a:solidFill>
                  <a:srgbClr val="0F172A"/>
                </a:solidFill>
                <a:latin typeface="Segoe UI"/>
              </a:defRPr>
            </a:pPr>
            <a:r>
              <a:t>• Clean Separation of Concerns: </a:t>
            </a:r>
            <a:r>
              <a:rPr b="0">
                <a:solidFill>
                  <a:srgbClr val="334155"/>
                </a:solidFill>
              </a:rPr>
              <a:t>Strict C4 Level 1-3 layering separates presentation, routing, state, API client facade, and business domain services.</a:t>
            </a:r>
          </a:p>
          <a:p>
            <a:pPr>
              <a:spcAft>
                <a:spcPts val="800"/>
              </a:spcAft>
              <a:defRPr sz="850" b="1">
                <a:solidFill>
                  <a:srgbClr val="0F172A"/>
                </a:solidFill>
                <a:latin typeface="Segoe UI"/>
              </a:defRPr>
            </a:pPr>
            <a:r>
              <a:t>• Cryptographic Google Identity: </a:t>
            </a:r>
            <a:r>
              <a:rPr b="0">
                <a:solidFill>
                  <a:srgbClr val="334155"/>
                </a:solidFill>
              </a:rPr>
              <a:t>Passwordless authentication eliminates password leakage vulnerabilities; user account anchored to immutable Google `sub`.</a:t>
            </a:r>
          </a:p>
          <a:p>
            <a:pPr>
              <a:spcAft>
                <a:spcPts val="800"/>
              </a:spcAft>
              <a:defRPr sz="850" b="1">
                <a:solidFill>
                  <a:srgbClr val="0F172A"/>
                </a:solidFill>
                <a:latin typeface="Segoe UI"/>
              </a:defRPr>
            </a:pPr>
            <a:r>
              <a:t>• Granular Concurrency Controls: </a:t>
            </a:r>
            <a:r>
              <a:rPr b="0">
                <a:solidFill>
                  <a:srgbClr val="334155"/>
                </a:solidFill>
              </a:rPr>
              <a:t>LockService distributed mutex ensures transactional write safety across high-concurrency race finish windows.</a:t>
            </a:r>
          </a:p>
        </p:txBody>
      </p:sp>
      <p:sp>
        <p:nvSpPr>
          <p:cNvPr id="12" name="Rounded Rectangle 11"/>
          <p:cNvSpPr/>
          <p:nvPr/>
        </p:nvSpPr>
        <p:spPr>
          <a:xfrm>
            <a:off x="4379976" y="1280160"/>
            <a:ext cx="3328416"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98264" y="1298448"/>
            <a:ext cx="329184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62856" y="1463040"/>
            <a:ext cx="2962656" cy="4617720"/>
          </a:xfrm>
          <a:prstGeom prst="rect">
            <a:avLst/>
          </a:prstGeom>
          <a:noFill/>
        </p:spPr>
        <p:txBody>
          <a:bodyPr wrap="square" lIns="0" tIns="0">
            <a:spAutoFit/>
          </a:bodyPr>
          <a:lstStyle/>
          <a:p>
            <a:pPr>
              <a:spcAft>
                <a:spcPts val="1200"/>
              </a:spcAft>
              <a:defRPr sz="1000" b="1">
                <a:solidFill>
                  <a:srgbClr val="D97706"/>
                </a:solidFill>
                <a:latin typeface="Segoe UI"/>
              </a:defRPr>
            </a:pPr>
            <a:r>
              <a:t>VERIFICATION &amp; READINESS CHECKLIST</a:t>
            </a:r>
          </a:p>
          <a:p>
            <a:pPr>
              <a:spcAft>
                <a:spcPts val="800"/>
              </a:spcAft>
              <a:defRPr sz="850" b="1">
                <a:solidFill>
                  <a:srgbClr val="0F172A"/>
                </a:solidFill>
                <a:latin typeface="Segoe UI"/>
              </a:defRPr>
            </a:pPr>
            <a:r>
              <a:t>• Backend Deployment URL Alignment: </a:t>
            </a:r>
            <a:r>
              <a:rPr b="0">
                <a:solidFill>
                  <a:srgbClr val="334155"/>
                </a:solidFill>
              </a:rPr>
              <a:t>Ensure Vite build environment variables point to active, versioned Apps Script Web App URL.</a:t>
            </a:r>
          </a:p>
          <a:p>
            <a:pPr>
              <a:spcAft>
                <a:spcPts val="800"/>
              </a:spcAft>
              <a:defRPr sz="850" b="1">
                <a:solidFill>
                  <a:srgbClr val="0F172A"/>
                </a:solidFill>
                <a:latin typeface="Segoe UI"/>
              </a:defRPr>
            </a:pPr>
            <a:r>
              <a:t>• Worksheet Schema Consistency: </a:t>
            </a:r>
            <a:r>
              <a:rPr b="0">
                <a:solidFill>
                  <a:srgbClr val="334155"/>
                </a:solidFill>
              </a:rPr>
              <a:t>Cross-reference all 15 sheets in backend/SetupSheet.gs against backend action dispatcher column lookups.</a:t>
            </a:r>
          </a:p>
          <a:p>
            <a:pPr>
              <a:spcAft>
                <a:spcPts val="800"/>
              </a:spcAft>
              <a:defRPr sz="850" b="1">
                <a:solidFill>
                  <a:srgbClr val="0F172A"/>
                </a:solidFill>
                <a:latin typeface="Segoe UI"/>
              </a:defRPr>
            </a:pPr>
            <a:r>
              <a:t>• Server-Side Clock Enforcement: </a:t>
            </a:r>
            <a:r>
              <a:rPr b="0">
                <a:solidFill>
                  <a:srgbClr val="334155"/>
                </a:solidFill>
              </a:rPr>
              <a:t>Confirm deadline checks strictly evaluate server timestamps with zero trust on client system time.</a:t>
            </a:r>
          </a:p>
          <a:p>
            <a:pPr>
              <a:spcAft>
                <a:spcPts val="800"/>
              </a:spcAft>
              <a:defRPr sz="850" b="1">
                <a:solidFill>
                  <a:srgbClr val="0F172A"/>
                </a:solidFill>
                <a:latin typeface="Segoe UI"/>
              </a:defRPr>
            </a:pPr>
            <a:r>
              <a:t>• Fallback Transparency: </a:t>
            </a:r>
            <a:r>
              <a:rPr b="0">
                <a:solidFill>
                  <a:srgbClr val="334155"/>
                </a:solidFill>
              </a:rPr>
              <a:t>Ensure UI prominently displays status pills when displaying cached or mock simulation datasets.</a:t>
            </a:r>
          </a:p>
        </p:txBody>
      </p:sp>
      <p:sp>
        <p:nvSpPr>
          <p:cNvPr id="15" name="Rounded Rectangle 14"/>
          <p:cNvSpPr/>
          <p:nvPr/>
        </p:nvSpPr>
        <p:spPr>
          <a:xfrm>
            <a:off x="8028432" y="1280160"/>
            <a:ext cx="3328416" cy="4937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298448"/>
            <a:ext cx="329184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1463040"/>
            <a:ext cx="2962656" cy="4617720"/>
          </a:xfrm>
          <a:prstGeom prst="rect">
            <a:avLst/>
          </a:prstGeom>
          <a:noFill/>
        </p:spPr>
        <p:txBody>
          <a:bodyPr wrap="square" lIns="0" tIns="0">
            <a:spAutoFit/>
          </a:bodyPr>
          <a:lstStyle/>
          <a:p>
            <a:pPr>
              <a:spcAft>
                <a:spcPts val="1200"/>
              </a:spcAft>
              <a:defRPr sz="1000" b="1">
                <a:solidFill>
                  <a:srgbClr val="2563EB"/>
                </a:solidFill>
                <a:latin typeface="Segoe UI"/>
              </a:defRPr>
            </a:pPr>
            <a:r>
              <a:t>RECOMMENDED PRODUCTION ROADMAP</a:t>
            </a:r>
          </a:p>
          <a:p>
            <a:pPr>
              <a:spcAft>
                <a:spcPts val="800"/>
              </a:spcAft>
              <a:defRPr sz="850" b="1">
                <a:solidFill>
                  <a:srgbClr val="0F172A"/>
                </a:solidFill>
                <a:latin typeface="Segoe UI"/>
              </a:defRPr>
            </a:pPr>
            <a:r>
              <a:t>• Edge Cache Layer (Cloudflare Workers): </a:t>
            </a:r>
            <a:r>
              <a:rPr b="0">
                <a:solidFill>
                  <a:srgbClr val="334155"/>
                </a:solidFill>
              </a:rPr>
              <a:t>Introduce edge caching for read-heavy public endpoints (driver standings, static race calendars) to reduce Apps Script quota pressure.</a:t>
            </a:r>
          </a:p>
          <a:p>
            <a:pPr>
              <a:spcAft>
                <a:spcPts val="800"/>
              </a:spcAft>
              <a:defRPr sz="850" b="1">
                <a:solidFill>
                  <a:srgbClr val="0F172A"/>
                </a:solidFill>
                <a:latin typeface="Segoe UI"/>
              </a:defRPr>
            </a:pPr>
            <a:r>
              <a:t>• Automated Integration Testing: </a:t>
            </a:r>
            <a:r>
              <a:rPr b="0">
                <a:solidFill>
                  <a:srgbClr val="334155"/>
                </a:solidFill>
              </a:rPr>
              <a:t>Expand CI/CD pipeline to execute integration test suite verifying backend API contracts before deployment.</a:t>
            </a:r>
          </a:p>
          <a:p>
            <a:pPr>
              <a:spcAft>
                <a:spcPts val="800"/>
              </a:spcAft>
              <a:defRPr sz="850" b="1">
                <a:solidFill>
                  <a:srgbClr val="0F172A"/>
                </a:solidFill>
                <a:latin typeface="Segoe UI"/>
              </a:defRPr>
            </a:pPr>
            <a:r>
              <a:t>• Granular Quota Telemetry: </a:t>
            </a:r>
            <a:r>
              <a:rPr b="0">
                <a:solidFill>
                  <a:srgbClr val="334155"/>
                </a:solidFill>
              </a:rPr>
              <a:t>Add quota monitoring hooks to record daily Apps Script execution seconds and MailApp email consumption.</a:t>
            </a:r>
          </a:p>
          <a:p>
            <a:pPr>
              <a:spcAft>
                <a:spcPts val="800"/>
              </a:spcAft>
              <a:defRPr sz="850" b="1">
                <a:solidFill>
                  <a:srgbClr val="0F172A"/>
                </a:solidFill>
                <a:latin typeface="Segoe UI"/>
              </a:defRPr>
            </a:pPr>
            <a:r>
              <a:t>• Leaderboard Snapshot Generation: </a:t>
            </a:r>
            <a:r>
              <a:rPr b="0">
                <a:solidFill>
                  <a:srgbClr val="334155"/>
                </a:solidFill>
              </a:rPr>
              <a:t>Pre-render static leaderboard JSON snapshots upon race scoring to serve high-traffic traffic spikes instantly.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