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GRDX presentation. This deck tells the complete story of the platform: the problem it solves, how it works, how it is built, how it protects data, where it is headed, and what it looks like in live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GRDX provides a motorsport-focused prediction and community experience. F1 fans often follow races through separate sources and discuss predictions informally. THE GRDX brings prediction participation, results, and competitive engagement into one dedicated experience.</a:t>
            </a:r>
          </a:p>
          <a:p/>
          <a:p>
            <a:r>
              <a:t>Key message: Turn every Grand Prix weekend into an interactive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“The frontend is a static web application, while the backend runs in Apps Script. Google Sheets provides the main persistent data store, avoiding the need to operate a conventional application server and database server.”</a:t>
            </a:r>
          </a:p>
          <a:p/>
          <a:p>
            <a:r>
              <a:t>Key message: A lightweight web platform connects the user experience to server-side business logic, structured application data, and external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Predictions are organized around race sessions rather than being isolated, free-form entries. Once a submission is accepted, the scoring process compares it with the official result and produces the points used in the leaderboard.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“The backend coordinates business rules, data persistence, and processing across the platform. The backend is organized around an action-dispatch pattern rather than separate microservices. Its services execute inside the same Apps Script project.”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“The scoring system turns individual race predictions into a measurable competitive experience. A prediction is tied to a specific session and round. Once a submission is accepted, the scoring process compares it with the official result and produces the points used in the leaderboard.”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“THE GRDX combines race information, prediction, competition, and engagement in one focused experience. Organizing capabilities into four clear groups helps users understand the full breadth of the product.”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“The platform uses familiar web technologies and managed Google services to keep infrastructure relatively lightweight. The backend runs specifically on Google Apps Script rather than conventional Node or container servers.”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“The goal is to make F1 prediction more structured, immersive, and community-oriented. We focus on session awareness, circuit identity, and community competition rather than generic odds or gambling.”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“Build a reliable prediction platform first, deepen user engagement next, and expand into a richer F1 community experience over time. Each roadmap item is realistically categorized as in-progress, planned, or proposed.”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“Security depends on backend enforcement and data-integrity controls, not just the authentication interface. We enforce token verification, role checks, and deadline enforcement on the server.”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“Actual production screenshots of the running desktop application: The left shows the main dashboard and session countdown; the top-right shows the Prediction Hub; the bottom-right shows the live community leaderboard.”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“Demonstrate how users can access the prediction experience and key platform features on smaller screens. Actual mobile screenshots show responsive touch-friendly navigation, quick ballot entry, and leaderboard rankings.”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E10600"/>
                </a:solidFill>
                <a:latin typeface="Segoe UI"/>
              </a:defRPr>
            </a:pPr>
            <a:r>
              <a:t>PRODUCT OVERVIEW, TECHNICAL ARCHITECTURE &amp;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0F172A"/>
                </a:solidFill>
                <a:latin typeface="Segoe UI"/>
              </a:defRPr>
            </a:pPr>
            <a:r>
              <a:t>THE GRDX</a:t>
            </a:r>
          </a:p>
          <a:p>
            <a:pPr>
              <a:spcAft>
                <a:spcPts val="800"/>
              </a:spcAft>
              <a:defRPr sz="2200" b="1">
                <a:solidFill>
                  <a:srgbClr val="EB5722"/>
                </a:solidFill>
                <a:latin typeface="Segoe UI"/>
              </a:defRPr>
            </a:pPr>
            <a:r>
              <a:t>F1 Prediction &amp; Community Platform</a:t>
            </a:r>
          </a:p>
          <a:p>
            <a:pPr>
              <a:defRPr sz="1200" i="1">
                <a:solidFill>
                  <a:srgbClr val="475569"/>
                </a:solidFill>
                <a:latin typeface="Segoe UI"/>
              </a:defRPr>
            </a:pPr>
            <a:r>
              <a:t>The problem → The product → How it works → How it is built → How it protects data → Where it is going → What it looks like.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245059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3584448"/>
            <a:ext cx="2414016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749040"/>
            <a:ext cx="2121408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THE PRODUCT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Motorsport Engagement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Turn every Grand Prix weekend into an interactive fan experience with session-aware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3566160"/>
            <a:ext cx="245059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3584448"/>
            <a:ext cx="2414016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4" y="3749040"/>
            <a:ext cx="2121408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ARCHITECTURE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Lightweight &amp; Serverless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React 19 + TypeScript SPA on GitHub Pages Edge CDN backed by Google Apps Script V8.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566160"/>
            <a:ext cx="245059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3584448"/>
            <a:ext cx="2414016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3749040"/>
            <a:ext cx="2121408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16A34A"/>
                </a:solidFill>
                <a:latin typeface="Segoe UI"/>
              </a:defRPr>
            </a:pPr>
            <a:r>
              <a:t>DATA INTEGRITY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Structured Cloud Records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15 relational worksheets on Google Sheets with LockService mutex &amp; CacheService RAM caching.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14816" y="3566160"/>
            <a:ext cx="245059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33104" y="3584448"/>
            <a:ext cx="2414016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3749040"/>
            <a:ext cx="2121408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9333EA"/>
                </a:solidFill>
                <a:latin typeface="Segoe UI"/>
              </a:defRPr>
            </a:pPr>
            <a:r>
              <a:t>PRODUCT VISION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Community &amp; Future Scale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Three-phase expansion from core prediction reliability to rich analytics and social leagues.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THE GRDX PRESENTATION  |  12 COMPREHENSIVE SLIDES  |  LIGHT PROFESSIONAL EXECUTIVE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PRODUCT INTRODUCTION &amp; OVERVIEW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1 — Introduction: What Is THE GRDX?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 motorsport-focused platform where Formula 1 fans make race predictions, follow race weekends, and compete with the community.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Slide 1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48828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THE PROBLEM IT SOLVES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84632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F1 fans often follow races through disparate, fragmented sources and share predictions informally across group chats or social media threads.</a:t>
            </a:r>
            <a:br/>
            <a:br/>
            <a:r>
              <a:t>There is no dedicated, focused digital home that combines structured session-by-session predictions, live schedule countdowns, verified official results, and competitive community leaderboards in one cohesive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52120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904488"/>
            <a:ext cx="48828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WHAT THE GRDX IS &amp; TARGET 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F172A"/>
                </a:solidFill>
                <a:latin typeface="Segoe UI"/>
              </a:defRPr>
            </a:pPr>
            <a:r>
              <a:t>• Motorsport Prediction Platform: </a:t>
            </a:r>
            <a:r>
              <a:rPr b="0">
                <a:solidFill>
                  <a:srgbClr val="334155"/>
                </a:solidFill>
              </a:rPr>
              <a:t>Structured prediction rounds for Practice, Qualifying, Sprint, and Grand Prix.</a:t>
            </a:r>
          </a:p>
          <a:p>
            <a:pPr>
              <a:spcAft>
                <a:spcPts val="400"/>
              </a:spcAft>
              <a:defRPr sz="900" b="1">
                <a:solidFill>
                  <a:srgbClr val="0F172A"/>
                </a:solidFill>
                <a:latin typeface="Segoe UI"/>
              </a:defRPr>
            </a:pPr>
            <a:r>
              <a:t>• Target Audience: </a:t>
            </a:r>
            <a:r>
              <a:rPr b="0">
                <a:solidFill>
                  <a:srgbClr val="334155"/>
                </a:solidFill>
              </a:rPr>
              <a:t>Formula 1 fans, race-weekend prediction enthusiasts, and motorsport communities.</a:t>
            </a:r>
          </a:p>
          <a:p>
            <a:pPr>
              <a:spcAft>
                <a:spcPts val="400"/>
              </a:spcAft>
              <a:defRPr sz="900" b="1">
                <a:solidFill>
                  <a:srgbClr val="0F172A"/>
                </a:solidFill>
                <a:latin typeface="Segoe UI"/>
              </a:defRPr>
            </a:pPr>
            <a:r>
              <a:t>• Core Aim: </a:t>
            </a:r>
            <a:r>
              <a:rPr b="0">
                <a:solidFill>
                  <a:srgbClr val="334155"/>
                </a:solidFill>
              </a:rPr>
              <a:t>Make following F1 interactive by giving fans a measurable way to predict outcomes and track accuracy.</a:t>
            </a:r>
          </a:p>
          <a:p>
            <a:pPr>
              <a:spcAft>
                <a:spcPts val="400"/>
              </a:spcAft>
              <a:defRPr sz="900" b="1">
                <a:solidFill>
                  <a:srgbClr val="0F172A"/>
                </a:solidFill>
                <a:latin typeface="Segoe UI"/>
              </a:defRPr>
            </a:pPr>
            <a:r>
              <a:t>• Vision: </a:t>
            </a:r>
            <a:r>
              <a:rPr b="0">
                <a:solidFill>
                  <a:srgbClr val="334155"/>
                </a:solidFill>
              </a:rPr>
              <a:t>Build a focused digital home for F1 prediction, learning, and competitive community engagement.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242255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389888"/>
            <a:ext cx="491307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LIVE PLATFORM PREVIEW</a:t>
            </a:r>
          </a:p>
        </p:txBody>
      </p:sp>
      <p:pic>
        <p:nvPicPr>
          <p:cNvPr id="17" name="Picture 16" descr="deskto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455" y="1645920"/>
            <a:ext cx="4901184" cy="30632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17920" y="4983480"/>
            <a:ext cx="5242255" cy="12344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5093208"/>
            <a:ext cx="4949647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t>💡  KEY PRODUCT MESSAGE</a:t>
            </a:r>
          </a:p>
          <a:p>
            <a:pPr>
              <a:defRPr sz="850">
                <a:solidFill>
                  <a:srgbClr val="78350F"/>
                </a:solidFill>
                <a:latin typeface="Segoe UI"/>
              </a:defRPr>
            </a:pPr>
            <a:r>
              <a:t>“Turn every Grand Prix weekend into an interactive experience.”</a:t>
            </a:r>
            <a:br/>
            <a:br/>
            <a:r>
              <a:t>Note: Present the problem and vision as the platform's intended purpose, rather than claiming market-wide results or user impact that hasn't been measured.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SYSTEM ARCHITECTURE  |  C4 CONTAINER TOPOLOGY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2 — System Architecture at a Glance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 lightweight web platform connects the user experience to server-side business logic, structured application data, and external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Slide 2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49743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C4 CONTAINER DIAGRAM: CORE ARCHITECTURE</a:t>
            </a:r>
          </a:p>
        </p:txBody>
      </p:sp>
      <p:pic>
        <p:nvPicPr>
          <p:cNvPr id="11" name="Picture 10" descr="slide_2_contain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53009"/>
            <a:ext cx="5029200" cy="346638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1280160"/>
            <a:ext cx="5242255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389888"/>
            <a:ext cx="491307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ARCHITECTURAL TIERS &amp; DATA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4967935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User Experience Layer (Frontend): </a:t>
            </a:r>
            <a:r>
              <a:rPr b="0">
                <a:solidFill>
                  <a:srgbClr val="334155"/>
                </a:solidFill>
              </a:rPr>
              <a:t>React 19 + TypeScript Single Page App (SPA) hosted on GitHub Pages Edge CDN. Provides instant client-side navigation via React Router 7 and persistent local caching.</a:t>
            </a:r>
          </a:p>
          <a:p>
            <a:pPr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Application Logic Engine (Backend): </a:t>
            </a:r>
            <a:r>
              <a:rPr b="0">
                <a:solidFill>
                  <a:srgbClr val="334155"/>
                </a:solidFill>
              </a:rPr>
              <a:t>Google Apps Script running on Google Cloud Platform's V8 serverless runtime. Processes incoming HTTPS GET/POST JSON requests via doGet(e) and doPost(e) gateways.</a:t>
            </a:r>
          </a:p>
          <a:p>
            <a:pPr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Persistent Cloud Database (Data Tier): </a:t>
            </a:r>
            <a:r>
              <a:rPr b="0">
                <a:solidFill>
                  <a:srgbClr val="334155"/>
                </a:solidFill>
              </a:rPr>
              <a:t>Google Sheets relational cloud database comprising 15 structured worksheets, providing automated version history, zero hosting cost, and direct data inspectability.</a:t>
            </a:r>
          </a:p>
          <a:p>
            <a:pPr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External Services &amp; Integrations: </a:t>
            </a:r>
            <a:r>
              <a:rPr b="0">
                <a:solidFill>
                  <a:srgbClr val="334155"/>
                </a:solidFill>
              </a:rPr>
              <a:t>Google Identity Services for cryptographic OAuth 2.0 user verification, Jolpica F1 API for motorsport telemetry, and Google MailApp for async transactional emails.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074920"/>
            <a:ext cx="5242255" cy="1143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5184648"/>
            <a:ext cx="4949647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t>💡  CORE ARCHITECTURAL PRINCIPLE</a:t>
            </a:r>
          </a:p>
          <a:p>
            <a:pPr>
              <a:defRPr sz="850">
                <a:solidFill>
                  <a:srgbClr val="78350F"/>
                </a:solidFill>
                <a:latin typeface="Segoe UI"/>
              </a:defRPr>
            </a:pPr>
            <a:r>
              <a:t>A lightweight web platform connects the user experience to server-side business logic, structured application data, and external services without needing expensive traditional database or application servers.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USER JOURNEY &amp; CORE WORKFLOW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3 — Core Workflow: Race Weekend and Predictions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Predictions are organized around real race sessions rather than being isolated, free-form entries.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Slide 3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37856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PREDICTION LIFECYCLE WORKFLOW</a:t>
            </a:r>
          </a:p>
        </p:txBody>
      </p:sp>
      <p:pic>
        <p:nvPicPr>
          <p:cNvPr id="11" name="Picture 10" descr="slide_6_prediction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183" y="1691640"/>
            <a:ext cx="1651472" cy="4389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0" y="1280160"/>
            <a:ext cx="6430975" cy="37490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389888"/>
            <a:ext cx="6101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STEP-BY-STEP PREDICTION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645920"/>
            <a:ext cx="6065215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1. Race Calendar &amp; Session Discovery: </a:t>
            </a:r>
            <a:r>
              <a:rPr b="0">
                <a:solidFill>
                  <a:srgbClr val="334155"/>
                </a:solidFill>
              </a:rPr>
              <a:t>Users browse official Grand Prix schedules with local timezone-adjusted countdowns for Practice, Qualifying, Sprint, and Race sessions.</a:t>
            </a:r>
          </a:p>
          <a:p>
            <a:pPr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2. Prediction Round Activation: </a:t>
            </a:r>
            <a:r>
              <a:rPr b="0">
                <a:solidFill>
                  <a:srgbClr val="334155"/>
                </a:solidFill>
              </a:rPr>
              <a:t>Session-specific prediction rounds open for submissions with dedicated deadlines and custom track metadata.</a:t>
            </a:r>
          </a:p>
          <a:p>
            <a:pPr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3. Ballot Entry &amp; Selection: </a:t>
            </a:r>
            <a:r>
              <a:rPr b="0">
                <a:solidFill>
                  <a:srgbClr val="334155"/>
                </a:solidFill>
              </a:rPr>
              <a:t>Users enter predicted podium finishers (P1, P2, P3), Fastest Lap, Driver of the Day, and session wildcard challenges.</a:t>
            </a:r>
          </a:p>
          <a:p>
            <a:pPr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4. Server-Side Validation: </a:t>
            </a:r>
            <a:r>
              <a:rPr b="0">
                <a:solidFill>
                  <a:srgbClr val="334155"/>
                </a:solidFill>
              </a:rPr>
              <a:t>Backend enforces strict validation: driver combination validity, input sanitization, and atomic deadline checks (5 min before session start).</a:t>
            </a:r>
          </a:p>
          <a:p>
            <a:pPr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5. Atomic Persistence: </a:t>
            </a:r>
            <a:r>
              <a:rPr b="0">
                <a:solidFill>
                  <a:srgbClr val="334155"/>
                </a:solidFill>
              </a:rPr>
              <a:t>Verified submissions are locked and written to Google Sheets via LockService mutex to prevent race conditions.</a:t>
            </a:r>
          </a:p>
          <a:p>
            <a:pPr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6. Official Result Scoring: </a:t>
            </a:r>
            <a:r>
              <a:rPr b="0">
                <a:solidFill>
                  <a:srgbClr val="334155"/>
                </a:solidFill>
              </a:rPr>
              <a:t>Official FIA session results are ingested; automated scoring engine calculates points and refreshes community leaderboards.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5166360"/>
            <a:ext cx="6430975" cy="10515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5276088"/>
            <a:ext cx="6138367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t>💡  KEY WORKFLOW INSIGHT</a:t>
            </a:r>
          </a:p>
          <a:p>
            <a:pPr>
              <a:defRPr sz="850">
                <a:solidFill>
                  <a:srgbClr val="78350F"/>
                </a:solidFill>
                <a:latin typeface="Segoe UI"/>
              </a:defRPr>
            </a:pPr>
            <a:r>
              <a:t>Predictions are organized around real motorsport sessions rather than being isolated entries. Strict server-side deadlines ensure competitive integrity across global timezones.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BACKEND &amp; CLOUD PERSISTENCE  |  GOOGLE APPS SCRIPT &amp; SHEETS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4 — Backend and Data Architecture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The backend coordinates business rules, data persistence, and processing across the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Slide 4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1039947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BACKEND REQUEST ROUTING &amp; APPLICATION SERVICES TOPOLOGY</a:t>
            </a:r>
          </a:p>
        </p:txBody>
      </p:sp>
      <p:pic>
        <p:nvPicPr>
          <p:cNvPr id="11" name="Picture 10" descr="slide_4_backend_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94" y="1645920"/>
            <a:ext cx="7949705" cy="2194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78808"/>
            <a:ext cx="48828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SERVERLESS REQUEST GATEWAY &amp; DOMAIN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84632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Unified Request Dispatcher: </a:t>
            </a:r>
            <a:r>
              <a:rPr b="0">
                <a:solidFill>
                  <a:srgbClr val="334155"/>
                </a:solidFill>
              </a:rPr>
              <a:t>doGet(e) processes high-speed read queries; doPost(e) routes JSON mutations to domain action handlers.</a:t>
            </a:r>
          </a:p>
          <a:p>
            <a:pPr>
              <a:spcAft>
                <a:spcPts val="3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Specialized Domain Services: </a:t>
            </a:r>
            <a:r>
              <a:rPr b="0">
                <a:solidFill>
                  <a:srgbClr val="334155"/>
                </a:solidFill>
              </a:rPr>
              <a:t>Dedicated modules for Identity, Prediction Validation, Scoring Engine, Calendar Sync, and Quiz Management.</a:t>
            </a:r>
          </a:p>
          <a:p>
            <a:pPr>
              <a:spcAft>
                <a:spcPts val="3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LockService Mutex Protection: </a:t>
            </a:r>
            <a:r>
              <a:rPr b="0">
                <a:solidFill>
                  <a:srgbClr val="334155"/>
                </a:solidFill>
              </a:rPr>
              <a:t>Distributed script lock (10s timeout) prevents write collisions during high-traffic cutoff windows.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242255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178808"/>
            <a:ext cx="491307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15-WORKSHEET RELATIONAL DATA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4876495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Relational Entity Hierarchy: </a:t>
            </a:r>
            <a:r>
              <a:rPr b="0">
                <a:solidFill>
                  <a:srgbClr val="334155"/>
                </a:solidFill>
              </a:rPr>
              <a:t>Users connect to Predictions, Scores, Achievements, QuizAttempts, and NotificationQueue.</a:t>
            </a:r>
          </a:p>
          <a:p>
            <a:pPr>
              <a:spcAft>
                <a:spcPts val="3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Race &amp; Prediction Entities: </a:t>
            </a:r>
            <a:r>
              <a:rPr b="0">
                <a:solidFill>
                  <a:srgbClr val="334155"/>
                </a:solidFill>
              </a:rPr>
              <a:t>RaceWeekends and Sessions schedule PredictionRounds; rounds record Predictions, official Results, and Scores.</a:t>
            </a:r>
          </a:p>
          <a:p>
            <a:pPr>
              <a:spcAft>
                <a:spcPts val="3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Integrity Enforcement: </a:t>
            </a:r>
            <a:r>
              <a:rPr b="0">
                <a:solidFill>
                  <a:srgbClr val="334155"/>
                </a:solidFill>
              </a:rPr>
              <a:t>Google Sheets acts as persistent storage; foreign-key constraints and unique lookups are strictly maintained in application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COMPETITIVE SCORING MODEL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5 — Scoring and Competitive Workflow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How predictions become points: rewarding pinpoint accuracy, podium coverage, and session bonuses.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Slide 5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60350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57058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OFFICIAL DOCUMENTED SCORING MODEL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1645920"/>
          <a:ext cx="5669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2560320"/>
              </a:tblGrid>
              <a:tr h="4775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Prediction Outcome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Evaluation Criteria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Exact P1 Winner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t>15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Selected driver finishes in 1st 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Exact P2 Runner-Up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t>10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Selected driver finishes in 2nd position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Exact P3 Third 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t>10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Selected driver finishes in 3rd 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Podium Driver (Wrong Position)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t>5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Driver finishes on podium but different spot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Perfect 1–2–3 Podium Bonus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t>+10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Exact P1, P2, and P3 predicted simultaneously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Fastest Lap (FL)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t>10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Selected driver records official race fastest lap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Driver of the Day (DOTD)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t>10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Selected driver wins official broadcast fan vote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Wildcard Session Challenge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t>15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Correct prediction on session-specific wildcard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040880" y="1280160"/>
            <a:ext cx="4419295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1389888"/>
            <a:ext cx="409011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COMPETITIVE PROGRESSION &amp; ENGINE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645920"/>
            <a:ext cx="4053535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Measurable Competition: </a:t>
            </a:r>
            <a:r>
              <a:rPr b="0">
                <a:solidFill>
                  <a:srgbClr val="334155"/>
                </a:solidFill>
              </a:rPr>
              <a:t>Turns individual Grand Prix predictions into a competitive community leaderboard updated after every session.</a:t>
            </a:r>
          </a:p>
          <a:p>
            <a:pPr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Tiered Bonus System: </a:t>
            </a:r>
            <a:r>
              <a:rPr b="0">
                <a:solidFill>
                  <a:srgbClr val="334155"/>
                </a:solidFill>
              </a:rPr>
              <a:t>Balanced weighting rewards exact position insight while giving partial credit for podium presence and race-day feats.</a:t>
            </a:r>
          </a:p>
          <a:p>
            <a:pPr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Automated Ingestion: </a:t>
            </a:r>
            <a:r>
              <a:rPr b="0">
                <a:solidFill>
                  <a:srgbClr val="334155"/>
                </a:solidFill>
              </a:rPr>
              <a:t>Official results feed the scoring process automatically; scores aggregate into seasonal championship totals.</a:t>
            </a:r>
          </a:p>
          <a:p>
            <a:pPr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Achievement Milestones: </a:t>
            </a:r>
            <a:r>
              <a:rPr b="0">
                <a:solidFill>
                  <a:srgbClr val="334155"/>
                </a:solidFill>
              </a:rPr>
              <a:t>Special achievements and badges unlocked based on prediction streaks, perfect podiums, and trivia accuracy.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4709160"/>
            <a:ext cx="4419295" cy="15087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87184" y="4818888"/>
            <a:ext cx="4126687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t>💡  SCORING INTEGRITY CHECKPOINT</a:t>
            </a:r>
          </a:p>
          <a:p>
            <a:pPr>
              <a:defRPr sz="850">
                <a:solidFill>
                  <a:srgbClr val="78350F"/>
                </a:solidFill>
                <a:latin typeface="Segoe UI"/>
              </a:defRPr>
            </a:pPr>
            <a:r>
              <a:t>Treat these as documented scoring values subject to backend/Code.gs verification. Server-side idempotency keys prevent duplicate scoring calculation rows upon multiple result sync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PRODUCT CAPABILITIES &amp; FEATURE MAP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6 — Features and Platform Capabilities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THE GRDX combines race information, prediction, competition, and engagement in one focused experience.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Slide 6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4688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298448"/>
            <a:ext cx="2432304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463040"/>
            <a:ext cx="2139696" cy="3337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E10600"/>
                </a:solidFill>
                <a:latin typeface="Segoe UI"/>
              </a:defRPr>
            </a:pPr>
            <a:r>
              <a:t>RACE WEEKEND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Session Schedules &amp; Clocks: </a:t>
            </a:r>
            <a:r>
              <a:rPr b="0">
                <a:solidFill>
                  <a:srgbClr val="334155"/>
                </a:solidFill>
              </a:rPr>
              <a:t>Practice, Qualifying, Sprint, and Grand Prix local time countdowns.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Dynamic Circuit Visuals: </a:t>
            </a:r>
            <a:r>
              <a:rPr b="0">
                <a:solidFill>
                  <a:srgbClr val="334155"/>
                </a:solidFill>
              </a:rPr>
              <a:t>Authentic SVG track layouts with sector and DRS zone info.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Session Round Activation: </a:t>
            </a:r>
            <a:r>
              <a:rPr b="0">
                <a:solidFill>
                  <a:srgbClr val="334155"/>
                </a:solidFill>
              </a:rPr>
              <a:t>Prediction rounds tied to specific weekend sessions.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Telemetry &amp; Context: </a:t>
            </a:r>
            <a:r>
              <a:rPr b="0">
                <a:solidFill>
                  <a:srgbClr val="334155"/>
                </a:solidFill>
              </a:rPr>
              <a:t>Weather forecasts, historical circuit winners, and track length.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280160"/>
            <a:ext cx="24688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8144" y="1298448"/>
            <a:ext cx="2432304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463040"/>
            <a:ext cx="2139696" cy="3337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COMPETITION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Prediction Form Engine: </a:t>
            </a:r>
            <a:r>
              <a:rPr b="0">
                <a:solidFill>
                  <a:srgbClr val="334155"/>
                </a:solidFill>
              </a:rPr>
              <a:t>Intuitive ballot for podium picks, fastest lap, and DOTD.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Automated Point Tallies: </a:t>
            </a:r>
            <a:r>
              <a:rPr b="0">
                <a:solidFill>
                  <a:srgbClr val="334155"/>
                </a:solidFill>
              </a:rPr>
              <a:t>Transparent rule-based scoring calculated instantly.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Live Community Leaderboards: </a:t>
            </a:r>
            <a:r>
              <a:rPr b="0">
                <a:solidFill>
                  <a:srgbClr val="334155"/>
                </a:solidFill>
              </a:rPr>
              <a:t>Global rankings, seasonal ladders, and event standings.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Achievement Badges: </a:t>
            </a:r>
            <a:r>
              <a:rPr b="0">
                <a:solidFill>
                  <a:srgbClr val="334155"/>
                </a:solidFill>
              </a:rPr>
              <a:t>Unlockable trophies celebrating milestones and streaks.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280160"/>
            <a:ext cx="24688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98448"/>
            <a:ext cx="2432304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1463040"/>
            <a:ext cx="2139696" cy="3337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t>LEARNING &amp; ENGAGEMENT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Motorsport Trivia Engine: </a:t>
            </a:r>
            <a:r>
              <a:rPr b="0">
                <a:solidFill>
                  <a:srgbClr val="334155"/>
                </a:solidFill>
              </a:rPr>
              <a:t>Categorized F1 quizzes testing technical and historical trivia.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Difficulty Tiers: </a:t>
            </a:r>
            <a:r>
              <a:rPr b="0">
                <a:solidFill>
                  <a:srgbClr val="334155"/>
                </a:solidFill>
              </a:rPr>
              <a:t>Rookie, Enthusiast, and Strategist difficulty levels.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Championship Exploration: </a:t>
            </a:r>
            <a:r>
              <a:rPr b="0">
                <a:solidFill>
                  <a:srgbClr val="334155"/>
                </a:solidFill>
              </a:rPr>
              <a:t>Circuit guides and junior feeder championship overviews.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Universal Search (Ctrl+K): </a:t>
            </a:r>
            <a:r>
              <a:rPr b="0">
                <a:solidFill>
                  <a:srgbClr val="334155"/>
                </a:solidFill>
              </a:rPr>
              <a:t>Quick search modal across circuits, drivers, and rounds.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6528" y="1280160"/>
            <a:ext cx="24688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14816" y="1298448"/>
            <a:ext cx="2432304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463040"/>
            <a:ext cx="2139696" cy="3337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9333EA"/>
                </a:solidFill>
                <a:latin typeface="Segoe UI"/>
              </a:defRPr>
            </a:pPr>
            <a:r>
              <a:t>PERSONAL EXPERIENCE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User Profiles &amp; Avatars: </a:t>
            </a:r>
            <a:r>
              <a:rPr b="0">
                <a:solidFill>
                  <a:srgbClr val="334155"/>
                </a:solidFill>
              </a:rPr>
              <a:t>Personalized fan profiles displaying rank and trophies.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Participation History: </a:t>
            </a:r>
            <a:r>
              <a:rPr b="0">
                <a:solidFill>
                  <a:srgbClr val="334155"/>
                </a:solidFill>
              </a:rPr>
              <a:t>Review past submitted ballots and point breakdowns.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Transactional Notifications: </a:t>
            </a:r>
            <a:r>
              <a:rPr b="0">
                <a:solidFill>
                  <a:srgbClr val="334155"/>
                </a:solidFill>
              </a:rPr>
              <a:t>Email confirmations and race result point summaries.</a:t>
            </a:r>
          </a:p>
          <a:p>
            <a:pPr>
              <a:spcAft>
                <a:spcPts val="6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Notification Preferences: </a:t>
            </a:r>
            <a:r>
              <a:rPr b="0">
                <a:solidFill>
                  <a:srgbClr val="334155"/>
                </a:solidFill>
              </a:rPr>
              <a:t>Configurable reminder alerts for upcoming session cutoffs.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74920"/>
            <a:ext cx="10728655" cy="1143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5184648"/>
            <a:ext cx="10436047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t>💡  PLATFORM FEATURE SCOPE</a:t>
            </a:r>
          </a:p>
          <a:p>
            <a:pPr>
              <a:defRPr sz="850">
                <a:solidFill>
                  <a:srgbClr val="78350F"/>
                </a:solidFill>
                <a:latin typeface="Segoe UI"/>
              </a:defRPr>
            </a:pPr>
            <a:r>
              <a:t>THE GRDX combines race information, prediction, competition, and engagement in one focused experience. All features depicted above represent implemented functionality in the active repository.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TECHNOLOGY &amp; ENGINEERING STACK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7 — Technology Stack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Built with a lightweight, serverless-oriented stack combining modern web frameworks and managed Google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Slide 7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6858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65288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LAYERED TECHNOLOGY ARCHITECTURE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1645920"/>
          <a:ext cx="6492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3017520"/>
              </a:tblGrid>
              <a:tr h="716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Technologies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Role &amp; Responsibility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Frontend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React 19, TypeScript, Vite, React Router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User interface, client navigation, state contexts, and fast build tooling.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Backend Layer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Google Apps Script V8 Serverless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doGet/doPost API request gateway and application domain logic.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Data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Google Sheets, CacheService, LocalStorage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15 structured relational sheets, in-memory RAM cache, and browser cache.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Integrations Layer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Google GIS, Jolpica F1 API, Google MailApp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Cryptographic token auth, motorsport telemetry, and transactional HTML email.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Hosting &amp;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GitHub Pages Edge CDN, GitHub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Global edge static distribution and automated deploy.yml CI/CD workflows.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0" y="1280160"/>
            <a:ext cx="3687775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389888"/>
            <a:ext cx="33585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ARCHITECTURAL RATIONALE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645920"/>
            <a:ext cx="3322015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Zero Infrastructure Cost: </a:t>
            </a:r>
            <a:r>
              <a:rPr b="0">
                <a:solidFill>
                  <a:srgbClr val="334155"/>
                </a:solidFill>
              </a:rPr>
              <a:t>Static edge frontend combined with serverless Google backend eliminates cloud compute and database hosting expenses.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Rapid Development: </a:t>
            </a:r>
            <a:r>
              <a:rPr b="0">
                <a:solidFill>
                  <a:srgbClr val="334155"/>
                </a:solidFill>
              </a:rPr>
              <a:t>Google Sheets provides transparent inspectability without requiring dedicated database management interfaces.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Type-Safe Frontend: </a:t>
            </a:r>
            <a:r>
              <a:rPr b="0">
                <a:solidFill>
                  <a:srgbClr val="334155"/>
                </a:solidFill>
              </a:rPr>
              <a:t>React 19 + TypeScript catches contract violations at compile time before deployment.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709160"/>
            <a:ext cx="3687775" cy="15087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18704" y="4818888"/>
            <a:ext cx="3395167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t>💡  ACCURACY &amp; SERVERLESS NOTE</a:t>
            </a:r>
          </a:p>
          <a:p>
            <a:pPr>
              <a:defRPr sz="850">
                <a:solidFill>
                  <a:srgbClr val="78350F"/>
                </a:solidFill>
                <a:latin typeface="Segoe UI"/>
              </a:defRPr>
            </a:pPr>
            <a:r>
              <a:t>Do not describe this as a generic serverless architecture without qualification: the backend runs specifically inside Google Apps Script V8, with execution limits (6 min timeout, daily email quotas).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PRODUCT DIFFERENTIATION &amp; VALUE PROPOSITION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8 — What Makes THE GRDX Different?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Beyond a basic prediction website: making F1 prediction structured, immersive, and community-oriented.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Slide 8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298448"/>
            <a:ext cx="5175504" cy="457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26464"/>
            <a:ext cx="4846320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F1-Focused Experience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Designed specifically around Formula 1 race weekends, rather than being a generic betting or sports skin.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128016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6383" y="1298448"/>
            <a:ext cx="5175504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0975" y="1426464"/>
            <a:ext cx="4846320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Session-Aware Predictions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Predictions are organized by relevant sessions (Practice, Sprint, Quali, GP) with individual deadlines.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2944368"/>
            <a:ext cx="5175504" cy="457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72384"/>
            <a:ext cx="4846320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Circuit-Centered Identity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Dynamic circuit SVG assets and track-specific telemetry connect prediction choices directly to real circuits.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292608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6383" y="2944368"/>
            <a:ext cx="5175504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0975" y="3072384"/>
            <a:ext cx="4846320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Competitive Progression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Rule-based scoring, global leaderboards, and tiered achievements give users measurable seasonal progression.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" y="4590288"/>
            <a:ext cx="5175504" cy="457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18304"/>
            <a:ext cx="4846320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Multiple Engagement Modes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Fans engage across predictions, motorsport trivia quizzes, and championship research in one platform.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095" y="457200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6383" y="4590288"/>
            <a:ext cx="5175504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0975" y="4718304"/>
            <a:ext cx="4846320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Community-First Direction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Built to foster friendly rivalry and shared excitement among friends and online motorsport communities.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276088"/>
            <a:ext cx="10436047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t>💡  PRODUCT POSITIONING NOTE</a:t>
            </a:r>
          </a:p>
          <a:p>
            <a:pPr>
              <a:defRPr sz="850">
                <a:solidFill>
                  <a:srgbClr val="78350F"/>
                </a:solidFill>
                <a:latin typeface="Segoe UI"/>
              </a:defRPr>
            </a:pPr>
            <a:r>
              <a:t>The goal is to make F1 prediction more structured, immersive, and community-oriented. Avoid claiming these capabilities are unique across the entire market unless comparative empirical research supports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STRATEGIC ROADMAP &amp; PRODUCT VISION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9 — Product Vision and Future Roadmap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Build a reliable prediction platform first, deepen user engagement next, and expand into a richer F1 community experience over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Slide 9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298448"/>
            <a:ext cx="329184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2962656" cy="4617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t>PHASE 1 — FOUNDATION</a:t>
            </a:r>
          </a:p>
          <a:p>
            <a:pPr>
              <a:spcAft>
                <a:spcPts val="12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Reliability &amp; Core Experience (In Progress)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End-to-End Verification: </a:t>
            </a:r>
            <a:r>
              <a:rPr b="0">
                <a:solidFill>
                  <a:srgbClr val="334155"/>
                </a:solidFill>
              </a:rPr>
              <a:t>Verify prediction submission, deadline locks, and scoring.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Resilient Fallbacks: </a:t>
            </a:r>
            <a:r>
              <a:rPr b="0">
                <a:solidFill>
                  <a:srgbClr val="334155"/>
                </a:solidFill>
              </a:rPr>
              <a:t>Improve handling of unavailable upstream APIs and stale data.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Calendar Consistency: </a:t>
            </a:r>
            <a:r>
              <a:rPr b="0">
                <a:solidFill>
                  <a:srgbClr val="334155"/>
                </a:solidFill>
              </a:rPr>
              <a:t>Strengthen sync across race sessions, results, and boards.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Multi-Device UX: </a:t>
            </a:r>
            <a:r>
              <a:rPr b="0">
                <a:solidFill>
                  <a:srgbClr val="334155"/>
                </a:solidFill>
              </a:rPr>
              <a:t>Refine responsive desktop and mobile experiences.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280160"/>
            <a:ext cx="3328416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1298448"/>
            <a:ext cx="3291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463040"/>
            <a:ext cx="2962656" cy="4617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PHASE 2 — ENGAGEMENT</a:t>
            </a:r>
          </a:p>
          <a:p>
            <a:pPr>
              <a:spcAft>
                <a:spcPts val="12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Community &amp; Competition (Planned)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Tiered Achievements: </a:t>
            </a:r>
            <a:r>
              <a:rPr b="0">
                <a:solidFill>
                  <a:srgbClr val="334155"/>
                </a:solidFill>
              </a:rPr>
              <a:t>Season-long progression milestones and badge showcases.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Expanded Quiz Engine: </a:t>
            </a:r>
            <a:r>
              <a:rPr b="0">
                <a:solidFill>
                  <a:srgbClr val="334155"/>
                </a:solidFill>
              </a:rPr>
              <a:t>Deeper trivia categories and interactive knowledge activities.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Smart Notifications: </a:t>
            </a:r>
            <a:r>
              <a:rPr b="0">
                <a:solidFill>
                  <a:srgbClr val="334155"/>
                </a:solidFill>
              </a:rPr>
              <a:t>User-configurable race-weekend alerts and result digests.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Private Community Leagues: </a:t>
            </a:r>
            <a:r>
              <a:rPr b="0">
                <a:solidFill>
                  <a:srgbClr val="334155"/>
                </a:solidFill>
              </a:rPr>
              <a:t>Custom leagues for friends and motorsport clubs.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280160"/>
            <a:ext cx="3328416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98448"/>
            <a:ext cx="329184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463040"/>
            <a:ext cx="2962656" cy="4617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9333EA"/>
                </a:solidFill>
                <a:latin typeface="Segoe UI"/>
              </a:defRPr>
            </a:pPr>
            <a:r>
              <a:t>PHASE 3 — LONG-TERM VISION</a:t>
            </a:r>
          </a:p>
          <a:p>
            <a:pPr>
              <a:spcAft>
                <a:spcPts val="12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Complete Community Hub (Proposed)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Race &amp; Circuit Analytics: </a:t>
            </a:r>
            <a:r>
              <a:rPr b="0">
                <a:solidFill>
                  <a:srgbClr val="334155"/>
                </a:solidFill>
              </a:rPr>
              <a:t>Rich telemetry, sector trends, and circuit insights.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Predictive Accuracy Insights: </a:t>
            </a:r>
            <a:r>
              <a:rPr b="0">
                <a:solidFill>
                  <a:srgbClr val="334155"/>
                </a:solidFill>
              </a:rPr>
              <a:t>Historical user performance metrics and prediction analytics.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Social Participation Tools: </a:t>
            </a:r>
            <a:r>
              <a:rPr b="0">
                <a:solidFill>
                  <a:srgbClr val="334155"/>
                </a:solidFill>
              </a:rPr>
              <a:t>Live race-weekend discussion and community reactions.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High-Scale Architecture: </a:t>
            </a:r>
            <a:r>
              <a:rPr b="0">
                <a:solidFill>
                  <a:srgbClr val="334155"/>
                </a:solidFill>
              </a:rPr>
              <a:t>Evaluate caching and indexing as community grows.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SECURITY &amp; TRUST CONTROLS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10 — Security, Privacy, and Data Integrity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Security depends on backend enforcement and data-integrity controls, not just the authentication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Slide 10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1039947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SECURITY &amp; INTEGRITY FLOWCHART</a:t>
            </a:r>
          </a:p>
        </p:txBody>
      </p:sp>
      <p:pic>
        <p:nvPicPr>
          <p:cNvPr id="11" name="Picture 10" descr="slide_7_auth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588" y="1645920"/>
            <a:ext cx="9724518" cy="2194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4069080"/>
            <a:ext cx="24688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0"/>
            <a:ext cx="2176272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10600"/>
                </a:solidFill>
                <a:latin typeface="Segoe UI"/>
              </a:defRPr>
            </a:pPr>
            <a:r>
              <a:t>ZERO-TRUST AUTHENTICATION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Server Verification: </a:t>
            </a:r>
            <a:r>
              <a:rPr b="0">
                <a:solidFill>
                  <a:srgbClr val="334155"/>
                </a:solidFill>
              </a:rPr>
              <a:t>Token validated via Google UserInfo API.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Immutable sub Anchor: </a:t>
            </a:r>
            <a:r>
              <a:rPr b="0">
                <a:solidFill>
                  <a:srgbClr val="334155"/>
                </a:solidFill>
              </a:rPr>
              <a:t>Account bound to Google Subject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4069080"/>
            <a:ext cx="24688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206240"/>
            <a:ext cx="2176272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10600"/>
                </a:solidFill>
                <a:latin typeface="Segoe UI"/>
              </a:defRPr>
            </a:pPr>
            <a:r>
              <a:t>ROLE-BASED ACCESS CONTROL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Server-Side Roles: </a:t>
            </a:r>
            <a:r>
              <a:rPr b="0">
                <a:solidFill>
                  <a:srgbClr val="334155"/>
                </a:solidFill>
              </a:rPr>
              <a:t>Privileged actions require verified 'admin' role.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Operation Validation: </a:t>
            </a:r>
            <a:r>
              <a:rPr b="0">
                <a:solidFill>
                  <a:srgbClr val="334155"/>
                </a:solidFill>
              </a:rPr>
              <a:t>Admin tools enforce server checks on every call.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192" y="4069080"/>
            <a:ext cx="24688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4206240"/>
            <a:ext cx="2176272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10600"/>
                </a:solidFill>
                <a:latin typeface="Segoe UI"/>
              </a:defRPr>
            </a:pPr>
            <a:r>
              <a:t>PREDICTION INTEGRITY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Server-Clock Deadlines: </a:t>
            </a:r>
            <a:r>
              <a:rPr b="0">
                <a:solidFill>
                  <a:srgbClr val="334155"/>
                </a:solidFill>
              </a:rPr>
              <a:t>Submissions cutoff 5 min prior to session.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LockService Mutex: </a:t>
            </a:r>
            <a:r>
              <a:rPr b="0">
                <a:solidFill>
                  <a:srgbClr val="334155"/>
                </a:solidFill>
              </a:rPr>
              <a:t>Serializes writes to eliminate race conditions.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6528" y="4069080"/>
            <a:ext cx="24688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4206240"/>
            <a:ext cx="2176272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10600"/>
                </a:solidFill>
                <a:latin typeface="Segoe UI"/>
              </a:defRPr>
            </a:pPr>
            <a:r>
              <a:t>DATA PRIVACY &amp; NOTIFICATIONS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Token Redaction: </a:t>
            </a:r>
            <a:r>
              <a:rPr b="0">
                <a:solidFill>
                  <a:srgbClr val="334155"/>
                </a:solidFill>
              </a:rPr>
              <a:t>Auth secrets omitted from public endpoints.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t>• Idempotent Worker: </a:t>
            </a:r>
            <a:r>
              <a:rPr b="0">
                <a:solidFill>
                  <a:srgbClr val="334155"/>
                </a:solidFill>
              </a:rPr>
              <a:t>Deduplication checks prevent duplicate emails.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PRODUCT SHOWCASE  |  USER EXPERIENCE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11 — Product Showcase: Desktop Experience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Demonstrating how the underlying architecture translates into a usable, cohesive, and modern web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Slide 11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6858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65288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DESKTOP HOMEPAGE &amp; HERO DASHBOARD</a:t>
            </a:r>
          </a:p>
        </p:txBody>
      </p:sp>
      <p:pic>
        <p:nvPicPr>
          <p:cNvPr id="11" name="Picture 10" descr="deskto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6583680" cy="4114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72400" y="1280160"/>
            <a:ext cx="3687775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389888"/>
            <a:ext cx="33585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PREDICTIONS HUB INTERFACE</a:t>
            </a:r>
          </a:p>
        </p:txBody>
      </p:sp>
      <p:pic>
        <p:nvPicPr>
          <p:cNvPr id="14" name="Picture 13" descr="desktop_predi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095" y="1645920"/>
            <a:ext cx="3072384" cy="19202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772400" y="3794760"/>
            <a:ext cx="3687775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3904488"/>
            <a:ext cx="33585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COMMUNITY LEADERBOARD &amp; STANDINGS</a:t>
            </a:r>
          </a:p>
        </p:txBody>
      </p:sp>
      <p:pic>
        <p:nvPicPr>
          <p:cNvPr id="17" name="Picture 16" descr="desktop_leader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519" y="4160520"/>
            <a:ext cx="3145536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t>PRODUCT SHOWCASE  |  RESPONSIVE MOBILE EXPERIENCE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12 — Product Showcase: Mobile Experience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Demonstrating how users access the prediction experience and key platform features on mobile screens.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Slide 12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MOBILE HOMEPAGE &amp; COUNTDOWN</a:t>
            </a:r>
          </a:p>
        </p:txBody>
      </p:sp>
      <p:pic>
        <p:nvPicPr>
          <p:cNvPr id="11" name="Picture 10" descr="mobil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596" y="1691640"/>
            <a:ext cx="1880262" cy="4069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5806440"/>
            <a:ext cx="3054096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Responsive dashboard with race countdown &amp; quick links.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280160"/>
            <a:ext cx="3328416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389888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MOBILE PREDICTION HUB</a:t>
            </a:r>
          </a:p>
        </p:txBody>
      </p:sp>
      <p:pic>
        <p:nvPicPr>
          <p:cNvPr id="15" name="Picture 14" descr="mobile_predi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052" y="1691640"/>
            <a:ext cx="1880262" cy="4069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17136" y="5806440"/>
            <a:ext cx="3054096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Touch-friendly prediction rounds and driver selectors.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280160"/>
            <a:ext cx="3328416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389888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MOBILE LEADERBOARD</a:t>
            </a:r>
          </a:p>
        </p:txBody>
      </p:sp>
      <p:pic>
        <p:nvPicPr>
          <p:cNvPr id="19" name="Picture 18" descr="mobile_leader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2508" y="1691640"/>
            <a:ext cx="1880262" cy="4069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65592" y="5806440"/>
            <a:ext cx="3054096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Fast-loading community rankings and user points tally.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